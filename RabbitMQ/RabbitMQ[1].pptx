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18"/>
  </p:notesMasterIdLst>
  <p:sldIdLst>
    <p:sldId id="290" r:id="rId2"/>
    <p:sldId id="256" r:id="rId3"/>
    <p:sldId id="257" r:id="rId4"/>
    <p:sldId id="258" r:id="rId5"/>
    <p:sldId id="260" r:id="rId6"/>
    <p:sldId id="284" r:id="rId7"/>
    <p:sldId id="259" r:id="rId8"/>
    <p:sldId id="285" r:id="rId9"/>
    <p:sldId id="289" r:id="rId10"/>
    <p:sldId id="261" r:id="rId11"/>
    <p:sldId id="286" r:id="rId12"/>
    <p:sldId id="294" r:id="rId13"/>
    <p:sldId id="293" r:id="rId14"/>
    <p:sldId id="296" r:id="rId15"/>
    <p:sldId id="262" r:id="rId16"/>
    <p:sldId id="26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F02D2A95-9DB9-4F14-8E64-EA661DEBE1C4}">
          <p14:sldIdLst>
            <p14:sldId id="290"/>
            <p14:sldId id="256"/>
            <p14:sldId id="257"/>
            <p14:sldId id="258"/>
            <p14:sldId id="260"/>
            <p14:sldId id="284"/>
            <p14:sldId id="259"/>
            <p14:sldId id="285"/>
            <p14:sldId id="289"/>
            <p14:sldId id="261"/>
            <p14:sldId id="286"/>
            <p14:sldId id="294"/>
            <p14:sldId id="293"/>
            <p14:sldId id="296"/>
            <p14:sldId id="262"/>
            <p14:sldId id="26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stafa Yasin Emir" initials="MYE" lastIdx="4" clrIdx="0">
    <p:extLst>
      <p:ext uri="{19B8F6BF-5375-455C-9EA6-DF929625EA0E}">
        <p15:presenceInfo xmlns:p15="http://schemas.microsoft.com/office/powerpoint/2012/main" userId="7c209a49de607f4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A5A"/>
    <a:srgbClr val="FFA829"/>
    <a:srgbClr val="1C90ED"/>
    <a:srgbClr val="A6B3AC"/>
    <a:srgbClr val="FF6600"/>
    <a:srgbClr val="000000"/>
    <a:srgbClr val="FE97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DCA84-D472-45F6-BBAA-82B0E5353AC8}" v="15" dt="2023-12-06T21:59:58.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54" autoAdjust="0"/>
    <p:restoredTop sz="93270" autoAdjust="0"/>
  </p:normalViewPr>
  <p:slideViewPr>
    <p:cSldViewPr snapToGrid="0">
      <p:cViewPr varScale="1">
        <p:scale>
          <a:sx n="106" d="100"/>
          <a:sy n="106" d="100"/>
        </p:scale>
        <p:origin x="1044"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stafa Yasin Emir" userId="7c209a49de607f42" providerId="Windows Live" clId="Web-{1D9DCA84-D472-45F6-BBAA-82B0E5353AC8}"/>
    <pc:docChg chg="delSld modSld">
      <pc:chgData name="Mustafa Yasin Emir" userId="7c209a49de607f42" providerId="Windows Live" clId="Web-{1D9DCA84-D472-45F6-BBAA-82B0E5353AC8}" dt="2023-12-06T21:59:58.610" v="14" actId="14100"/>
      <pc:docMkLst>
        <pc:docMk/>
      </pc:docMkLst>
      <pc:sldChg chg="modSp del">
        <pc:chgData name="Mustafa Yasin Emir" userId="7c209a49de607f42" providerId="Windows Live" clId="Web-{1D9DCA84-D472-45F6-BBAA-82B0E5353AC8}" dt="2023-12-06T21:59:22.875" v="4"/>
        <pc:sldMkLst>
          <pc:docMk/>
          <pc:sldMk cId="72805845" sldId="276"/>
        </pc:sldMkLst>
        <pc:spChg chg="mod">
          <ac:chgData name="Mustafa Yasin Emir" userId="7c209a49de607f42" providerId="Windows Live" clId="Web-{1D9DCA84-D472-45F6-BBAA-82B0E5353AC8}" dt="2023-12-06T21:59:05.984" v="0" actId="20577"/>
          <ac:spMkLst>
            <pc:docMk/>
            <pc:sldMk cId="72805845" sldId="276"/>
            <ac:spMk id="2" creationId="{57C1544D-AD0D-901D-0905-6B5F40368A38}"/>
          </ac:spMkLst>
        </pc:spChg>
      </pc:sldChg>
      <pc:sldChg chg="modSp">
        <pc:chgData name="Mustafa Yasin Emir" userId="7c209a49de607f42" providerId="Windows Live" clId="Web-{1D9DCA84-D472-45F6-BBAA-82B0E5353AC8}" dt="2023-12-06T21:59:58.610" v="14" actId="14100"/>
        <pc:sldMkLst>
          <pc:docMk/>
          <pc:sldMk cId="306441111" sldId="290"/>
        </pc:sldMkLst>
        <pc:spChg chg="mod">
          <ac:chgData name="Mustafa Yasin Emir" userId="7c209a49de607f42" providerId="Windows Live" clId="Web-{1D9DCA84-D472-45F6-BBAA-82B0E5353AC8}" dt="2023-12-06T21:59:58.610" v="14" actId="14100"/>
          <ac:spMkLst>
            <pc:docMk/>
            <pc:sldMk cId="306441111" sldId="290"/>
            <ac:spMk id="2" creationId="{57C1544D-AD0D-901D-0905-6B5F40368A3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74425-5232-458B-949E-11F7BB5A3223}" type="datetimeFigureOut">
              <a:rPr lang="tr-TR" smtClean="0"/>
              <a:t>8.12.2023</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92515-E81D-458B-8488-CF023A1BCC38}" type="slidenum">
              <a:rPr lang="tr-TR" smtClean="0"/>
              <a:t>‹#›</a:t>
            </a:fld>
            <a:endParaRPr lang="tr-TR"/>
          </a:p>
        </p:txBody>
      </p:sp>
    </p:spTree>
    <p:extLst>
      <p:ext uri="{BB962C8B-B14F-4D97-AF65-F5344CB8AC3E}">
        <p14:creationId xmlns:p14="http://schemas.microsoft.com/office/powerpoint/2010/main" val="1324146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a:t>
            </a:fld>
            <a:endParaRPr lang="tr-TR"/>
          </a:p>
        </p:txBody>
      </p:sp>
    </p:spTree>
    <p:extLst>
      <p:ext uri="{BB962C8B-B14F-4D97-AF65-F5344CB8AC3E}">
        <p14:creationId xmlns:p14="http://schemas.microsoft.com/office/powerpoint/2010/main" val="1901234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2</a:t>
            </a:fld>
            <a:endParaRPr lang="tr-TR"/>
          </a:p>
        </p:txBody>
      </p:sp>
    </p:spTree>
    <p:extLst>
      <p:ext uri="{BB962C8B-B14F-4D97-AF65-F5344CB8AC3E}">
        <p14:creationId xmlns:p14="http://schemas.microsoft.com/office/powerpoint/2010/main" val="2670405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3</a:t>
            </a:fld>
            <a:endParaRPr lang="tr-TR"/>
          </a:p>
        </p:txBody>
      </p:sp>
    </p:spTree>
    <p:extLst>
      <p:ext uri="{BB962C8B-B14F-4D97-AF65-F5344CB8AC3E}">
        <p14:creationId xmlns:p14="http://schemas.microsoft.com/office/powerpoint/2010/main" val="2147976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4</a:t>
            </a:fld>
            <a:endParaRPr lang="tr-TR"/>
          </a:p>
        </p:txBody>
      </p:sp>
    </p:spTree>
    <p:extLst>
      <p:ext uri="{BB962C8B-B14F-4D97-AF65-F5344CB8AC3E}">
        <p14:creationId xmlns:p14="http://schemas.microsoft.com/office/powerpoint/2010/main" val="2204290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5</a:t>
            </a:fld>
            <a:endParaRPr lang="tr-TR"/>
          </a:p>
        </p:txBody>
      </p:sp>
    </p:spTree>
    <p:extLst>
      <p:ext uri="{BB962C8B-B14F-4D97-AF65-F5344CB8AC3E}">
        <p14:creationId xmlns:p14="http://schemas.microsoft.com/office/powerpoint/2010/main" val="2876570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6</a:t>
            </a:fld>
            <a:endParaRPr lang="tr-TR"/>
          </a:p>
        </p:txBody>
      </p:sp>
    </p:spTree>
    <p:extLst>
      <p:ext uri="{BB962C8B-B14F-4D97-AF65-F5344CB8AC3E}">
        <p14:creationId xmlns:p14="http://schemas.microsoft.com/office/powerpoint/2010/main" val="1283072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7</a:t>
            </a:fld>
            <a:endParaRPr lang="tr-TR"/>
          </a:p>
        </p:txBody>
      </p:sp>
    </p:spTree>
    <p:extLst>
      <p:ext uri="{BB962C8B-B14F-4D97-AF65-F5344CB8AC3E}">
        <p14:creationId xmlns:p14="http://schemas.microsoft.com/office/powerpoint/2010/main" val="1214489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8</a:t>
            </a:fld>
            <a:endParaRPr lang="tr-TR"/>
          </a:p>
        </p:txBody>
      </p:sp>
    </p:spTree>
    <p:extLst>
      <p:ext uri="{BB962C8B-B14F-4D97-AF65-F5344CB8AC3E}">
        <p14:creationId xmlns:p14="http://schemas.microsoft.com/office/powerpoint/2010/main" val="519769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9</a:t>
            </a:fld>
            <a:endParaRPr lang="tr-TR"/>
          </a:p>
        </p:txBody>
      </p:sp>
    </p:spTree>
    <p:extLst>
      <p:ext uri="{BB962C8B-B14F-4D97-AF65-F5344CB8AC3E}">
        <p14:creationId xmlns:p14="http://schemas.microsoft.com/office/powerpoint/2010/main" val="1192634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10</a:t>
            </a:fld>
            <a:endParaRPr lang="tr-TR"/>
          </a:p>
        </p:txBody>
      </p:sp>
    </p:spTree>
    <p:extLst>
      <p:ext uri="{BB962C8B-B14F-4D97-AF65-F5344CB8AC3E}">
        <p14:creationId xmlns:p14="http://schemas.microsoft.com/office/powerpoint/2010/main" val="5758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11</a:t>
            </a:fld>
            <a:endParaRPr lang="tr-TR"/>
          </a:p>
        </p:txBody>
      </p:sp>
    </p:spTree>
    <p:extLst>
      <p:ext uri="{BB962C8B-B14F-4D97-AF65-F5344CB8AC3E}">
        <p14:creationId xmlns:p14="http://schemas.microsoft.com/office/powerpoint/2010/main" val="2304935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12</a:t>
            </a:fld>
            <a:endParaRPr lang="tr-TR"/>
          </a:p>
        </p:txBody>
      </p:sp>
    </p:spTree>
    <p:extLst>
      <p:ext uri="{BB962C8B-B14F-4D97-AF65-F5344CB8AC3E}">
        <p14:creationId xmlns:p14="http://schemas.microsoft.com/office/powerpoint/2010/main" val="142024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13</a:t>
            </a:fld>
            <a:endParaRPr lang="tr-TR"/>
          </a:p>
        </p:txBody>
      </p:sp>
    </p:spTree>
    <p:extLst>
      <p:ext uri="{BB962C8B-B14F-4D97-AF65-F5344CB8AC3E}">
        <p14:creationId xmlns:p14="http://schemas.microsoft.com/office/powerpoint/2010/main" val="681709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15</a:t>
            </a:fld>
            <a:endParaRPr lang="tr-TR"/>
          </a:p>
        </p:txBody>
      </p:sp>
    </p:spTree>
    <p:extLst>
      <p:ext uri="{BB962C8B-B14F-4D97-AF65-F5344CB8AC3E}">
        <p14:creationId xmlns:p14="http://schemas.microsoft.com/office/powerpoint/2010/main" val="1398881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8ED92515-E81D-458B-8488-CF023A1BCC38}" type="slidenum">
              <a:rPr lang="tr-TR" smtClean="0"/>
              <a:t>16</a:t>
            </a:fld>
            <a:endParaRPr lang="tr-TR"/>
          </a:p>
        </p:txBody>
      </p:sp>
    </p:spTree>
    <p:extLst>
      <p:ext uri="{BB962C8B-B14F-4D97-AF65-F5344CB8AC3E}">
        <p14:creationId xmlns:p14="http://schemas.microsoft.com/office/powerpoint/2010/main" val="29330087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tr-T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1684040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1702815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95032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778287E-61CD-4AF0-92FC-DE83A23054DE}" type="datetimeFigureOut">
              <a:rPr lang="tr-TR" smtClean="0"/>
              <a:t>8.12.2023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1659149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778287E-61CD-4AF0-92FC-DE83A23054DE}" type="datetimeFigureOut">
              <a:rPr lang="tr-TR" smtClean="0"/>
              <a:t>8.12.2023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3782371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8778287E-61CD-4AF0-92FC-DE83A23054DE}" type="datetimeFigureOut">
              <a:rPr lang="tr-TR" smtClean="0"/>
              <a:t>8.12.2023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2486673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78287E-61CD-4AF0-92FC-DE83A23054DE}" type="datetimeFigureOut">
              <a:rPr lang="tr-TR" smtClean="0"/>
              <a:t>8.12.2023</a:t>
            </a:fld>
            <a:endParaRPr lang="tr-TR"/>
          </a:p>
        </p:txBody>
      </p:sp>
      <p:sp>
        <p:nvSpPr>
          <p:cNvPr id="3" name="Footer Placeholder 2"/>
          <p:cNvSpPr>
            <a:spLocks noGrp="1"/>
          </p:cNvSpPr>
          <p:nvPr>
            <p:ph type="ftr" sz="quarter" idx="11"/>
          </p:nvPr>
        </p:nvSpPr>
        <p:spPr/>
        <p:txBody>
          <a:bodyPr/>
          <a:lstStyle/>
          <a:p>
            <a:endParaRPr lang="tr-T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1537452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8287E-61CD-4AF0-92FC-DE83A23054DE}" type="datetimeFigureOut">
              <a:rPr lang="tr-TR" smtClean="0"/>
              <a:t>8.12.2023</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2584220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tr-TR"/>
              <a:t>Resim eklemek için simgeye tıklayın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8287E-61CD-4AF0-92FC-DE83A23054DE}" type="datetimeFigureOut">
              <a:rPr lang="tr-TR" smtClean="0"/>
              <a:t>8.12.2023</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4098919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8287E-61CD-4AF0-92FC-DE83A23054DE}" type="datetimeFigureOut">
              <a:rPr lang="tr-TR" smtClean="0"/>
              <a:t>8.12.2023</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85932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aşlık ve Resim Yazıs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30328030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esim Yazılı Alıntı">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tr-TR"/>
              <a:t>Asıl başlık stilini düzenlemek için tıklayın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3475397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sim Kartı">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3796114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78287E-61CD-4AF0-92FC-DE83A23054DE}" type="datetimeFigureOut">
              <a:rPr lang="tr-TR" smtClean="0"/>
              <a:t>8.12.2023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4019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78287E-61CD-4AF0-92FC-DE83A23054DE}" type="datetimeFigureOut">
              <a:rPr lang="tr-TR" smtClean="0"/>
              <a:t>8.12.2023</a:t>
            </a:fld>
            <a:endParaRPr lang="tr-TR"/>
          </a:p>
        </p:txBody>
      </p:sp>
      <p:sp>
        <p:nvSpPr>
          <p:cNvPr id="8" name="Footer Placeholder 7"/>
          <p:cNvSpPr>
            <a:spLocks noGrp="1"/>
          </p:cNvSpPr>
          <p:nvPr>
            <p:ph type="ftr" sz="quarter" idx="11"/>
          </p:nvPr>
        </p:nvSpPr>
        <p:spPr>
          <a:xfrm>
            <a:off x="561111" y="6391838"/>
            <a:ext cx="3644282" cy="304801"/>
          </a:xfrm>
        </p:spPr>
        <p:txBody>
          <a:bodyPr/>
          <a:lstStyle/>
          <a:p>
            <a:endParaRPr lang="tr-TR"/>
          </a:p>
        </p:txBody>
      </p:sp>
      <p:sp>
        <p:nvSpPr>
          <p:cNvPr id="9" name="Slide Number Placeholder 8"/>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298203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3075642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778287E-61CD-4AF0-92FC-DE83A23054DE}" type="datetimeFigureOut">
              <a:rPr lang="tr-TR" smtClean="0"/>
              <a:t>8.12.2023</a:t>
            </a:fld>
            <a:endParaRPr lang="tr-TR"/>
          </a:p>
        </p:txBody>
      </p:sp>
      <p:sp>
        <p:nvSpPr>
          <p:cNvPr id="5" name="Footer Placeholder 4"/>
          <p:cNvSpPr>
            <a:spLocks noGrp="1"/>
          </p:cNvSpPr>
          <p:nvPr>
            <p:ph type="ftr" sz="quarter" idx="11"/>
          </p:nvPr>
        </p:nvSpPr>
        <p:spPr/>
        <p:txBody>
          <a:bodyPr/>
          <a:lstStyle/>
          <a:p>
            <a:endParaRPr lang="tr-T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2B61691-7D3F-40B4-9197-B774807B2FC5}" type="slidenum">
              <a:rPr lang="tr-TR" smtClean="0"/>
              <a:t>‹#›</a:t>
            </a:fld>
            <a:endParaRPr lang="tr-TR"/>
          </a:p>
        </p:txBody>
      </p:sp>
    </p:spTree>
    <p:extLst>
      <p:ext uri="{BB962C8B-B14F-4D97-AF65-F5344CB8AC3E}">
        <p14:creationId xmlns:p14="http://schemas.microsoft.com/office/powerpoint/2010/main" val="111469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778287E-61CD-4AF0-92FC-DE83A23054DE}" type="datetimeFigureOut">
              <a:rPr lang="tr-TR" smtClean="0"/>
              <a:t>8.12.2023</a:t>
            </a:fld>
            <a:endParaRPr lang="tr-T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tr-T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2B61691-7D3F-40B4-9197-B774807B2FC5}" type="slidenum">
              <a:rPr lang="tr-TR" smtClean="0"/>
              <a:t>‹#›</a:t>
            </a:fld>
            <a:endParaRPr lang="tr-TR"/>
          </a:p>
        </p:txBody>
      </p:sp>
    </p:spTree>
    <p:extLst>
      <p:ext uri="{BB962C8B-B14F-4D97-AF65-F5344CB8AC3E}">
        <p14:creationId xmlns:p14="http://schemas.microsoft.com/office/powerpoint/2010/main" val="60202094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web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tr.wikipedia.org/wiki/Erlang_(programlama_dili)#:~:text=Erlang%2C%20Ericsson%20firmas%C4%B1%20taraf%C4%B1ndan%201986,%C3%B6zelli%C4%9Fine%20sahip%20olan%20bir%20dildir."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hyperlink" Target="https://www.rabbitmq.com/getstarted.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hyperlink" Target="https://www.youtube.com/watch?v=o8eU5WiO8fw" TargetMode="External"/><Relationship Id="rId1" Type="http://schemas.openxmlformats.org/officeDocument/2006/relationships/slideLayout" Target="../slideLayouts/slideLayout14.xml"/><Relationship Id="rId6" Type="http://schemas.openxmlformats.org/officeDocument/2006/relationships/hyperlink" Target="https://www.youtube.com/watch?v=QGHP8Bi5Q5E&amp;t=691s" TargetMode="External"/><Relationship Id="rId5" Type="http://schemas.openxmlformats.org/officeDocument/2006/relationships/image" Target="../media/image16.png"/><Relationship Id="rId4" Type="http://schemas.openxmlformats.org/officeDocument/2006/relationships/hyperlink" Target="https://www.youtube.com/watch?v=bBZMR-WArNg&amp;t=849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Docker%20Desktop.lnk" TargetMode="External"/><Relationship Id="rId7"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cloudamqp.com/blog/part4-rabbitmq-for-beginners-exchanges-routing-keys-bindings.html" TargetMode="External"/><Relationship Id="rId5" Type="http://schemas.openxmlformats.org/officeDocument/2006/relationships/image" Target="../media/image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hyperlink" Target="https://burakneis.com/rabbitmq-nedir/" TargetMode="External"/><Relationship Id="rId13" Type="http://schemas.openxmlformats.org/officeDocument/2006/relationships/image" Target="../media/image2.png"/><Relationship Id="rId3" Type="http://schemas.openxmlformats.org/officeDocument/2006/relationships/hyperlink" Target="https://yazilim.notion.site/RabbitMQ-9b60e97fc4a14593a2a102dd3f6bc744" TargetMode="External"/><Relationship Id="rId7" Type="http://schemas.openxmlformats.org/officeDocument/2006/relationships/hyperlink" Target="https://www.gencayyildiz.com/blog" TargetMode="External"/><Relationship Id="rId12" Type="http://schemas.openxmlformats.org/officeDocument/2006/relationships/hyperlink" Target="https://www.youtube.com/watch?v=QGHP8Bi5Q5E&amp;t=691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cloudamqp.com/blog/part4-rabbitmq-for-beginners-exchanges-routing-keys-bindings.html" TargetMode="External"/><Relationship Id="rId11" Type="http://schemas.openxmlformats.org/officeDocument/2006/relationships/hyperlink" Target="https://www.youtube.com/watch?v=bBZMR-WArNg&amp;t=849s" TargetMode="External"/><Relationship Id="rId5" Type="http://schemas.openxmlformats.org/officeDocument/2006/relationships/hyperlink" Target="https://bilisim.io/2017/12/13/reactive-programming-2-reactive-manifesto/" TargetMode="External"/><Relationship Id="rId10" Type="http://schemas.openxmlformats.org/officeDocument/2006/relationships/hyperlink" Target="https://www.youtube.com/watch?v=o8eU5WiO8fw" TargetMode="External"/><Relationship Id="rId4" Type="http://schemas.openxmlformats.org/officeDocument/2006/relationships/hyperlink" Target="https://rabbitmq.com/" TargetMode="External"/><Relationship Id="rId9" Type="http://schemas.openxmlformats.org/officeDocument/2006/relationships/hyperlink" Target="https://www.cloudamqp.com/blog/when-to-use-rabbitmq-or-apache-kafka.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a:xfrm>
            <a:off x="706170" y="1563082"/>
            <a:ext cx="11018068" cy="149070"/>
          </a:xfrm>
        </p:spPr>
        <p:txBody>
          <a:bodyPr>
            <a:normAutofit fontScale="90000"/>
          </a:bodyPr>
          <a:lstStyle/>
          <a:p>
            <a:pPr algn="ctr"/>
            <a:r>
              <a:rPr lang="tr-TR" dirty="0">
                <a:solidFill>
                  <a:schemeClr val="bg1"/>
                </a:solidFill>
                <a:latin typeface="Comic Sans MS"/>
              </a:rPr>
              <a:t>Enterprise Application Development</a:t>
            </a:r>
            <a:r>
              <a:rPr lang="tr-TR" sz="1100" b="1" i="1" dirty="0">
                <a:solidFill>
                  <a:schemeClr val="bg1"/>
                </a:solidFill>
                <a:latin typeface="Comic Sans MS"/>
              </a:rPr>
              <a:t>MTH-501</a:t>
            </a:r>
            <a:br>
              <a:rPr lang="tr-TR" sz="1100" b="1" i="1" dirty="0">
                <a:solidFill>
                  <a:schemeClr val="bg1"/>
                </a:solidFill>
                <a:latin typeface="Comic Sans MS"/>
              </a:rPr>
            </a:br>
            <a:r>
              <a:rPr lang="tr-TR" sz="2000" b="1" i="1" dirty="0">
                <a:solidFill>
                  <a:schemeClr val="bg1"/>
                </a:solidFill>
                <a:latin typeface="Comic Sans MS"/>
              </a:rPr>
              <a:t>Mustafa Yasin Emir</a:t>
            </a:r>
          </a:p>
          <a:p>
            <a:pPr algn="ctr"/>
            <a:endParaRPr lang="tr-TR" dirty="0">
              <a:solidFill>
                <a:schemeClr val="bg1"/>
              </a:solidFill>
              <a:latin typeface="Comic Sans MS" panose="030F0702030302020204" pitchFamily="66" charset="0"/>
            </a:endParaRPr>
          </a:p>
        </p:txBody>
      </p:sp>
      <p:sp>
        <p:nvSpPr>
          <p:cNvPr id="3" name="Alt Başlık 2">
            <a:extLst>
              <a:ext uri="{FF2B5EF4-FFF2-40B4-BE49-F238E27FC236}">
                <a16:creationId xmlns:a16="http://schemas.microsoft.com/office/drawing/2014/main" id="{3DA583BF-207B-333F-B381-B6F01DE3F81A}"/>
              </a:ext>
            </a:extLst>
          </p:cNvPr>
          <p:cNvSpPr>
            <a:spLocks noGrp="1"/>
          </p:cNvSpPr>
          <p:nvPr>
            <p:ph idx="1"/>
          </p:nvPr>
        </p:nvSpPr>
        <p:spPr>
          <a:xfrm>
            <a:off x="3005750" y="2263366"/>
            <a:ext cx="8348050" cy="4156685"/>
          </a:xfrm>
        </p:spPr>
        <p:txBody>
          <a:bodyPr>
            <a:normAutofit/>
          </a:bodyPr>
          <a:lstStyle/>
          <a:p>
            <a:endParaRPr lang="tr-TR"/>
          </a:p>
          <a:p>
            <a:pPr lvl="3">
              <a:lnSpc>
                <a:spcPct val="150000"/>
              </a:lnSpc>
              <a:buFont typeface="Wingdings" panose="05000000000000000000" pitchFamily="2" charset="2"/>
              <a:buChar char="Ø"/>
            </a:pPr>
            <a:r>
              <a:rPr lang="tr-TR" sz="1800">
                <a:solidFill>
                  <a:srgbClr val="512A5A"/>
                </a:solidFill>
                <a:latin typeface="Times New Roman" panose="02020603050405020304" pitchFamily="18" charset="0"/>
                <a:cs typeface="Times New Roman" panose="02020603050405020304" pitchFamily="18" charset="0"/>
              </a:rPr>
              <a:t>Message Systems-Message Queue Nedir ?</a:t>
            </a:r>
          </a:p>
          <a:p>
            <a:pPr lvl="3">
              <a:lnSpc>
                <a:spcPct val="150000"/>
              </a:lnSpc>
              <a:buFont typeface="Wingdings" panose="05000000000000000000" pitchFamily="2" charset="2"/>
              <a:buChar char="Ø"/>
            </a:pPr>
            <a:r>
              <a:rPr lang="tr-TR" sz="1800">
                <a:solidFill>
                  <a:srgbClr val="512A5A"/>
                </a:solidFill>
                <a:latin typeface="Times New Roman" panose="02020603050405020304" pitchFamily="18" charset="0"/>
                <a:cs typeface="Times New Roman" panose="02020603050405020304" pitchFamily="18" charset="0"/>
              </a:rPr>
              <a:t>Message Broker Nedir ?</a:t>
            </a:r>
          </a:p>
          <a:p>
            <a:pPr lvl="3">
              <a:lnSpc>
                <a:spcPct val="150000"/>
              </a:lnSpc>
              <a:buFont typeface="Wingdings" panose="05000000000000000000" pitchFamily="2" charset="2"/>
              <a:buChar char="Ø"/>
            </a:pPr>
            <a:r>
              <a:rPr lang="tr-TR" sz="1800">
                <a:solidFill>
                  <a:srgbClr val="512A5A"/>
                </a:solidFill>
                <a:latin typeface="Times New Roman" panose="02020603050405020304" pitchFamily="18" charset="0"/>
                <a:cs typeface="Times New Roman" panose="02020603050405020304" pitchFamily="18" charset="0"/>
              </a:rPr>
              <a:t>RabbitMQ Nedir ? </a:t>
            </a:r>
          </a:p>
          <a:p>
            <a:pPr lvl="3">
              <a:lnSpc>
                <a:spcPct val="150000"/>
              </a:lnSpc>
              <a:buFont typeface="Wingdings" panose="05000000000000000000" pitchFamily="2" charset="2"/>
              <a:buChar char="Ø"/>
            </a:pPr>
            <a:r>
              <a:rPr lang="tr-TR" sz="1800">
                <a:solidFill>
                  <a:srgbClr val="512A5A"/>
                </a:solidFill>
                <a:latin typeface="Times New Roman" panose="02020603050405020304" pitchFamily="18" charset="0"/>
                <a:cs typeface="Times New Roman" panose="02020603050405020304" pitchFamily="18" charset="0"/>
              </a:rPr>
              <a:t>Exchange-Binding-Routing Key</a:t>
            </a:r>
          </a:p>
          <a:p>
            <a:pPr lvl="3">
              <a:lnSpc>
                <a:spcPct val="150000"/>
              </a:lnSpc>
              <a:buFont typeface="Wingdings" panose="05000000000000000000" pitchFamily="2" charset="2"/>
              <a:buChar char="Ø"/>
            </a:pPr>
            <a:r>
              <a:rPr lang="tr-TR" sz="1800">
                <a:solidFill>
                  <a:srgbClr val="512A5A"/>
                </a:solidFill>
                <a:latin typeface="Times New Roman" panose="02020603050405020304" pitchFamily="18" charset="0"/>
                <a:cs typeface="Times New Roman" panose="02020603050405020304" pitchFamily="18" charset="0"/>
              </a:rPr>
              <a:t>Exchange Türleri</a:t>
            </a:r>
          </a:p>
          <a:p>
            <a:pPr lvl="3">
              <a:lnSpc>
                <a:spcPct val="150000"/>
              </a:lnSpc>
              <a:buFont typeface="Wingdings" panose="05000000000000000000" pitchFamily="2" charset="2"/>
              <a:buChar char="Ø"/>
            </a:pPr>
            <a:r>
              <a:rPr lang="tr-TR" sz="1800">
                <a:solidFill>
                  <a:srgbClr val="FF6600"/>
                </a:solidFill>
                <a:latin typeface="Times New Roman" panose="02020603050405020304" pitchFamily="18" charset="0"/>
                <a:cs typeface="Times New Roman" panose="02020603050405020304" pitchFamily="18" charset="0"/>
              </a:rPr>
              <a:t>Rabbit</a:t>
            </a:r>
            <a:r>
              <a:rPr lang="tr-TR" sz="1800">
                <a:solidFill>
                  <a:srgbClr val="A6B3AC"/>
                </a:solidFill>
                <a:latin typeface="Times New Roman" panose="02020603050405020304" pitchFamily="18" charset="0"/>
                <a:cs typeface="Times New Roman" panose="02020603050405020304" pitchFamily="18" charset="0"/>
              </a:rPr>
              <a:t>MQ</a:t>
            </a:r>
            <a:r>
              <a:rPr lang="tr-TR" sz="1800">
                <a:solidFill>
                  <a:srgbClr val="512A5A"/>
                </a:solidFill>
                <a:latin typeface="Times New Roman" panose="02020603050405020304" pitchFamily="18" charset="0"/>
                <a:cs typeface="Times New Roman" panose="02020603050405020304" pitchFamily="18" charset="0"/>
              </a:rPr>
              <a:t> vs </a:t>
            </a:r>
            <a:r>
              <a:rPr lang="tr-TR" sz="1800">
                <a:solidFill>
                  <a:schemeClr val="tx1"/>
                </a:solidFill>
                <a:latin typeface="Times New Roman" panose="02020603050405020304" pitchFamily="18" charset="0"/>
                <a:cs typeface="Times New Roman" panose="02020603050405020304" pitchFamily="18" charset="0"/>
              </a:rPr>
              <a:t>Apache </a:t>
            </a:r>
            <a:r>
              <a:rPr lang="tr-TR" sz="1800" b="1">
                <a:solidFill>
                  <a:schemeClr val="tx1"/>
                </a:solidFill>
                <a:latin typeface="Times New Roman" panose="02020603050405020304" pitchFamily="18" charset="0"/>
                <a:cs typeface="Times New Roman" panose="02020603050405020304" pitchFamily="18" charset="0"/>
              </a:rPr>
              <a:t>Kafka </a:t>
            </a:r>
            <a:endParaRPr lang="tr-TR" sz="1800">
              <a:solidFill>
                <a:srgbClr val="512A5A"/>
              </a:solidFill>
              <a:latin typeface="Times New Roman" panose="02020603050405020304" pitchFamily="18" charset="0"/>
              <a:cs typeface="Times New Roman" panose="02020603050405020304" pitchFamily="18" charset="0"/>
            </a:endParaRPr>
          </a:p>
          <a:p>
            <a:pPr lvl="3">
              <a:lnSpc>
                <a:spcPct val="150000"/>
              </a:lnSpc>
              <a:buFont typeface="Wingdings" panose="05000000000000000000" pitchFamily="2" charset="2"/>
              <a:buChar char="Ø"/>
            </a:pPr>
            <a:r>
              <a:rPr lang="tr-TR" sz="1800">
                <a:solidFill>
                  <a:srgbClr val="512A5A"/>
                </a:solidFill>
                <a:latin typeface="Times New Roman" panose="02020603050405020304" pitchFamily="18" charset="0"/>
                <a:cs typeface="Times New Roman" panose="02020603050405020304" pitchFamily="18" charset="0"/>
              </a:rPr>
              <a:t>RabbitMQ Dockerize –Cloud AMQP </a:t>
            </a:r>
          </a:p>
          <a:p>
            <a:pPr lvl="3">
              <a:lnSpc>
                <a:spcPct val="150000"/>
              </a:lnSpc>
              <a:buFont typeface="Wingdings" panose="05000000000000000000" pitchFamily="2" charset="2"/>
              <a:buChar char="Ø"/>
            </a:pPr>
            <a:endParaRPr lang="tr-TR" sz="1800">
              <a:solidFill>
                <a:srgbClr val="512A5A"/>
              </a:solidFill>
              <a:latin typeface="Times New Roman" panose="02020603050405020304" pitchFamily="18" charset="0"/>
              <a:cs typeface="Times New Roman" panose="02020603050405020304" pitchFamily="18" charset="0"/>
            </a:endParaRPr>
          </a:p>
          <a:p>
            <a:pPr lvl="3">
              <a:lnSpc>
                <a:spcPct val="150000"/>
              </a:lnSpc>
              <a:buFont typeface="Wingdings" panose="05000000000000000000" pitchFamily="2" charset="2"/>
              <a:buChar char="Ø"/>
            </a:pPr>
            <a:endParaRPr lang="tr-TR" sz="1800">
              <a:solidFill>
                <a:srgbClr val="512A5A"/>
              </a:solidFill>
              <a:latin typeface="Times New Roman" panose="02020603050405020304" pitchFamily="18" charset="0"/>
              <a:cs typeface="Times New Roman" panose="02020603050405020304" pitchFamily="18" charset="0"/>
            </a:endParaRPr>
          </a:p>
          <a:p>
            <a:endParaRPr lang="tr-TR"/>
          </a:p>
        </p:txBody>
      </p:sp>
      <p:pic>
        <p:nvPicPr>
          <p:cNvPr id="4" name="Resim 3">
            <a:extLst>
              <a:ext uri="{FF2B5EF4-FFF2-40B4-BE49-F238E27FC236}">
                <a16:creationId xmlns:a16="http://schemas.microsoft.com/office/drawing/2014/main" id="{BB4DA25A-F845-18E7-7EE8-867B6852A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spTree>
    <p:extLst>
      <p:ext uri="{BB962C8B-B14F-4D97-AF65-F5344CB8AC3E}">
        <p14:creationId xmlns:p14="http://schemas.microsoft.com/office/powerpoint/2010/main" val="306441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a:xfrm>
            <a:off x="2942311" y="914400"/>
            <a:ext cx="5851358" cy="932329"/>
          </a:xfrm>
        </p:spPr>
        <p:txBody>
          <a:bodyPr>
            <a:normAutofit fontScale="90000"/>
          </a:bodyPr>
          <a:lstStyle/>
          <a:p>
            <a:pPr algn="ctr"/>
            <a:r>
              <a:rPr lang="tr-TR">
                <a:solidFill>
                  <a:schemeClr val="bg1"/>
                </a:solidFill>
                <a:latin typeface="Comic Sans MS" panose="030F0702030302020204" pitchFamily="66" charset="0"/>
              </a:rPr>
              <a:t>Message Systems</a:t>
            </a:r>
            <a:br>
              <a:rPr lang="tr-TR">
                <a:solidFill>
                  <a:schemeClr val="bg1"/>
                </a:solidFill>
                <a:latin typeface="Comic Sans MS" panose="030F0702030302020204" pitchFamily="66" charset="0"/>
              </a:rPr>
            </a:br>
            <a:r>
              <a:rPr lang="tr-TR">
                <a:solidFill>
                  <a:schemeClr val="bg1"/>
                </a:solidFill>
                <a:latin typeface="Comic Sans MS" panose="030F0702030302020204" pitchFamily="66" charset="0"/>
              </a:rPr>
              <a:t>Message Queue</a:t>
            </a:r>
          </a:p>
        </p:txBody>
      </p:sp>
      <p:sp>
        <p:nvSpPr>
          <p:cNvPr id="3" name="Alt Başlık 2">
            <a:extLst>
              <a:ext uri="{FF2B5EF4-FFF2-40B4-BE49-F238E27FC236}">
                <a16:creationId xmlns:a16="http://schemas.microsoft.com/office/drawing/2014/main" id="{3DA583BF-207B-333F-B381-B6F01DE3F81A}"/>
              </a:ext>
            </a:extLst>
          </p:cNvPr>
          <p:cNvSpPr>
            <a:spLocks noGrp="1"/>
          </p:cNvSpPr>
          <p:nvPr>
            <p:ph idx="1"/>
          </p:nvPr>
        </p:nvSpPr>
        <p:spPr>
          <a:xfrm>
            <a:off x="6174462" y="2525917"/>
            <a:ext cx="5179337" cy="2308633"/>
          </a:xfrm>
        </p:spPr>
        <p:txBody>
          <a:bodyPr>
            <a:normAutofit fontScale="92500" lnSpcReduction="10000"/>
          </a:bodyPr>
          <a:lstStyle/>
          <a:p>
            <a:pPr>
              <a:buFont typeface="Wingdings" panose="05000000000000000000" pitchFamily="2" charset="2"/>
              <a:buChar char="Ø"/>
            </a:pPr>
            <a:r>
              <a:rPr lang="tr-TR" sz="1500"/>
              <a:t>Yazılım sistemlerinde iletişim olarak kullanılan bir yapıdır.</a:t>
            </a:r>
          </a:p>
          <a:p>
            <a:pPr algn="l">
              <a:buFont typeface="Wingdings" panose="05000000000000000000" pitchFamily="2" charset="2"/>
              <a:buChar char="Ø"/>
            </a:pPr>
            <a:r>
              <a:rPr lang="tr-TR" sz="1500"/>
              <a:t>Birbirinden bağımsız sistemler arasında veri alışverişi yapmak için kullanılır.</a:t>
            </a:r>
          </a:p>
          <a:p>
            <a:pPr algn="l">
              <a:buFont typeface="Wingdings" panose="05000000000000000000" pitchFamily="2" charset="2"/>
              <a:buChar char="Ø"/>
            </a:pPr>
            <a:r>
              <a:rPr lang="tr-TR" sz="1500"/>
              <a:t>Message </a:t>
            </a:r>
            <a:r>
              <a:rPr lang="tr-TR" sz="1500" err="1"/>
              <a:t>Queue,gönderilen</a:t>
            </a:r>
            <a:r>
              <a:rPr lang="tr-TR" sz="1500"/>
              <a:t> mesajları kuyrukta saklar ve sonradan bu mesajların işlenmesini sağlar.</a:t>
            </a:r>
          </a:p>
          <a:p>
            <a:pPr algn="l">
              <a:buFont typeface="Wingdings" panose="05000000000000000000" pitchFamily="2" charset="2"/>
              <a:buChar char="Ø"/>
            </a:pPr>
            <a:r>
              <a:rPr lang="tr-TR" sz="1500"/>
              <a:t>Kuyruğa mesaj gönderene </a:t>
            </a:r>
            <a:r>
              <a:rPr lang="tr-TR" sz="1500">
                <a:solidFill>
                  <a:srgbClr val="512A5A"/>
                </a:solidFill>
              </a:rPr>
              <a:t>Producer</a:t>
            </a:r>
            <a:r>
              <a:rPr lang="tr-TR" sz="1500"/>
              <a:t>(Yayıncı) ya da </a:t>
            </a:r>
            <a:r>
              <a:rPr lang="tr-TR" sz="1500" err="1">
                <a:solidFill>
                  <a:srgbClr val="512A5A"/>
                </a:solidFill>
              </a:rPr>
              <a:t>Publisher</a:t>
            </a:r>
            <a:r>
              <a:rPr lang="tr-TR" sz="1500" err="1"/>
              <a:t>,kuyruktaki</a:t>
            </a:r>
            <a:r>
              <a:rPr lang="tr-TR" sz="1500"/>
              <a:t> mesajları işeyene ise </a:t>
            </a:r>
            <a:r>
              <a:rPr lang="tr-TR" sz="1500">
                <a:solidFill>
                  <a:srgbClr val="512A5A"/>
                </a:solidFill>
              </a:rPr>
              <a:t>Consumer</a:t>
            </a:r>
            <a:r>
              <a:rPr lang="tr-TR" sz="1500"/>
              <a:t>(Tüketici) denir</a:t>
            </a:r>
            <a:r>
              <a:rPr lang="tr-TR" sz="1400"/>
              <a:t>.</a:t>
            </a:r>
          </a:p>
          <a:p>
            <a:endParaRPr lang="tr-TR"/>
          </a:p>
          <a:p>
            <a:endParaRPr lang="tr-TR"/>
          </a:p>
        </p:txBody>
      </p:sp>
      <p:pic>
        <p:nvPicPr>
          <p:cNvPr id="6" name="Resim 5">
            <a:extLst>
              <a:ext uri="{FF2B5EF4-FFF2-40B4-BE49-F238E27FC236}">
                <a16:creationId xmlns:a16="http://schemas.microsoft.com/office/drawing/2014/main" id="{F1349731-0330-D440-0E58-787DA47FA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5096" y="6339369"/>
            <a:ext cx="2066222" cy="437949"/>
          </a:xfrm>
          <a:prstGeom prst="rect">
            <a:avLst/>
          </a:prstGeom>
          <a:ln>
            <a:noFill/>
          </a:ln>
          <a:effectLst>
            <a:softEdge rad="112500"/>
          </a:effectLst>
        </p:spPr>
      </p:pic>
      <p:pic>
        <p:nvPicPr>
          <p:cNvPr id="8" name="Resim 7">
            <a:extLst>
              <a:ext uri="{FF2B5EF4-FFF2-40B4-BE49-F238E27FC236}">
                <a16:creationId xmlns:a16="http://schemas.microsoft.com/office/drawing/2014/main" id="{B5B163DD-9F56-6317-CD3F-E405C05D25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9442" y="4834550"/>
            <a:ext cx="4669407" cy="1504819"/>
          </a:xfrm>
          <a:prstGeom prst="rect">
            <a:avLst/>
          </a:prstGeom>
          <a:ln>
            <a:noFill/>
          </a:ln>
          <a:effectLst>
            <a:softEdge rad="112500"/>
          </a:effectLst>
        </p:spPr>
      </p:pic>
      <p:pic>
        <p:nvPicPr>
          <p:cNvPr id="9" name="Resim 8">
            <a:extLst>
              <a:ext uri="{FF2B5EF4-FFF2-40B4-BE49-F238E27FC236}">
                <a16:creationId xmlns:a16="http://schemas.microsoft.com/office/drawing/2014/main" id="{41F9EEA9-1D83-4737-8CA7-CF2FB657FA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372" y="2383435"/>
            <a:ext cx="5457818" cy="3955933"/>
          </a:xfrm>
          <a:prstGeom prst="rect">
            <a:avLst/>
          </a:prstGeom>
        </p:spPr>
      </p:pic>
    </p:spTree>
    <p:extLst>
      <p:ext uri="{BB962C8B-B14F-4D97-AF65-F5344CB8AC3E}">
        <p14:creationId xmlns:p14="http://schemas.microsoft.com/office/powerpoint/2010/main" val="1497674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a:xfrm>
            <a:off x="838199" y="796704"/>
            <a:ext cx="10822663" cy="1028921"/>
          </a:xfrm>
        </p:spPr>
        <p:txBody>
          <a:bodyPr>
            <a:normAutofit/>
          </a:bodyPr>
          <a:lstStyle/>
          <a:p>
            <a:pPr algn="ctr"/>
            <a:r>
              <a:rPr lang="tr-TR">
                <a:solidFill>
                  <a:schemeClr val="bg1"/>
                </a:solidFill>
                <a:latin typeface="Comic Sans MS" panose="030F0702030302020204" pitchFamily="66" charset="0"/>
              </a:rPr>
              <a:t>Message Broker Nedir ?</a:t>
            </a:r>
          </a:p>
        </p:txBody>
      </p:sp>
      <p:sp>
        <p:nvSpPr>
          <p:cNvPr id="3" name="Alt Başlık 2">
            <a:extLst>
              <a:ext uri="{FF2B5EF4-FFF2-40B4-BE49-F238E27FC236}">
                <a16:creationId xmlns:a16="http://schemas.microsoft.com/office/drawing/2014/main" id="{3DA583BF-207B-333F-B381-B6F01DE3F81A}"/>
              </a:ext>
            </a:extLst>
          </p:cNvPr>
          <p:cNvSpPr>
            <a:spLocks noGrp="1"/>
          </p:cNvSpPr>
          <p:nvPr>
            <p:ph idx="1"/>
          </p:nvPr>
        </p:nvSpPr>
        <p:spPr>
          <a:xfrm>
            <a:off x="643289" y="2444436"/>
            <a:ext cx="10515600" cy="3820561"/>
          </a:xfrm>
        </p:spPr>
        <p:txBody>
          <a:bodyPr>
            <a:normAutofit fontScale="55000" lnSpcReduction="20000"/>
          </a:bodyPr>
          <a:lstStyle/>
          <a:p>
            <a:pPr>
              <a:buFont typeface="Wingdings" panose="05000000000000000000" pitchFamily="2" charset="2"/>
              <a:buChar char="Ø"/>
            </a:pPr>
            <a:endParaRPr lang="tr-TR"/>
          </a:p>
          <a:p>
            <a:pPr algn="l">
              <a:buFont typeface="Wingdings" panose="05000000000000000000" pitchFamily="2" charset="2"/>
              <a:buChar char="Ø"/>
            </a:pPr>
            <a:r>
              <a:rPr lang="tr-TR" sz="2500" b="0" i="0">
                <a:solidFill>
                  <a:srgbClr val="374151"/>
                </a:solidFill>
                <a:effectLst/>
              </a:rPr>
              <a:t>Message Broker ,sistemler arasında iletişimi kolaylaştırmak ve yönetmek için kullanılan bir yazılımdır. Bu tür bir aracı, farklı uygulamalar veya bileşenler arasında mesajlar veya veri paketlerini iletmek için kullanılır. Message Broker'lar, dağıtık sistemlerde, mikroservis mimarilerinde ve olay odaklı programlamada sıkça kullanılırlar.</a:t>
            </a:r>
          </a:p>
          <a:p>
            <a:pPr algn="l">
              <a:buFont typeface="Wingdings" panose="05000000000000000000" pitchFamily="2" charset="2"/>
              <a:buChar char="Ø"/>
            </a:pPr>
            <a:r>
              <a:rPr lang="tr-TR" sz="2500" i="0">
                <a:solidFill>
                  <a:srgbClr val="512A5A"/>
                </a:solidFill>
                <a:effectLst/>
              </a:rPr>
              <a:t>Mesaj İletimi</a:t>
            </a:r>
            <a:r>
              <a:rPr lang="tr-TR" sz="2500" b="1" i="0">
                <a:solidFill>
                  <a:srgbClr val="512A5A"/>
                </a:solidFill>
                <a:effectLst/>
              </a:rPr>
              <a:t>:</a:t>
            </a:r>
            <a:r>
              <a:rPr lang="tr-TR" sz="2500" b="0" i="0">
                <a:solidFill>
                  <a:srgbClr val="512A5A"/>
                </a:solidFill>
                <a:effectLst/>
              </a:rPr>
              <a:t> </a:t>
            </a:r>
            <a:r>
              <a:rPr lang="tr-TR" sz="2500" b="0" i="0">
                <a:solidFill>
                  <a:srgbClr val="374151"/>
                </a:solidFill>
                <a:effectLst/>
              </a:rPr>
              <a:t>Message Broker'lar, bir uygulama veya sistem bileşeninden diğerine mesajların iletilmesini sağlar. Mesajlar genellikle bir yayın/abonelik modeli veya kuyruk modeli gibi iletişim desenleri aracılığıyla taşınır.</a:t>
            </a:r>
          </a:p>
          <a:p>
            <a:pPr algn="l">
              <a:buFont typeface="Wingdings" panose="05000000000000000000" pitchFamily="2" charset="2"/>
              <a:buChar char="Ø"/>
            </a:pPr>
            <a:r>
              <a:rPr lang="tr-TR" sz="2500" i="0">
                <a:solidFill>
                  <a:srgbClr val="512A5A"/>
                </a:solidFill>
                <a:effectLst/>
              </a:rPr>
              <a:t>Mesaj Yönlendirme ve Dağıtım: </a:t>
            </a:r>
            <a:r>
              <a:rPr lang="tr-TR" sz="2500" b="0" i="0">
                <a:solidFill>
                  <a:srgbClr val="374151"/>
                </a:solidFill>
                <a:effectLst/>
              </a:rPr>
              <a:t>Message Broker'lar, mesajları hedef uygulamalara veya bileşenlere yönlendirir ve dağıtır. Bu, mesajları belirli bir sırayla, belirli tüketicilere veya belli bir öncelikle iletmeyi içerebilir.</a:t>
            </a:r>
          </a:p>
          <a:p>
            <a:pPr algn="l">
              <a:buFont typeface="Wingdings" panose="05000000000000000000" pitchFamily="2" charset="2"/>
              <a:buChar char="Ø"/>
            </a:pPr>
            <a:r>
              <a:rPr lang="tr-TR" sz="2500" i="0">
                <a:solidFill>
                  <a:srgbClr val="512A5A"/>
                </a:solidFill>
                <a:effectLst/>
              </a:rPr>
              <a:t>Mesaj Filtreleme ve Dönüştürme: </a:t>
            </a:r>
            <a:r>
              <a:rPr lang="tr-TR" sz="2500" b="0" i="0">
                <a:solidFill>
                  <a:srgbClr val="374151"/>
                </a:solidFill>
                <a:effectLst/>
              </a:rPr>
              <a:t>Message Broker'lar, gelen mesajları filtreleyebilir veya dönüştürebilir. Bu, mesaj içeriğini belirli kriterlere göre filtrelemeyi veya mesaj formatını değiştirmeyi içerebilir.</a:t>
            </a:r>
          </a:p>
          <a:p>
            <a:pPr algn="l">
              <a:buFont typeface="Wingdings" panose="05000000000000000000" pitchFamily="2" charset="2"/>
              <a:buChar char="Ø"/>
            </a:pPr>
            <a:r>
              <a:rPr lang="tr-TR" sz="2500" i="0">
                <a:solidFill>
                  <a:srgbClr val="512A5A"/>
                </a:solidFill>
                <a:effectLst/>
              </a:rPr>
              <a:t>Hata Yönetimi: </a:t>
            </a:r>
            <a:r>
              <a:rPr lang="tr-TR" sz="2500" b="0" i="0">
                <a:solidFill>
                  <a:srgbClr val="374151"/>
                </a:solidFill>
                <a:effectLst/>
              </a:rPr>
              <a:t>Message Broker'lar, iletişim sırasında oluşabilecek hataları yönetme yeteneği sunabilir. Mesajların kaybolmasını önlemek, tekrar deneme stratejileri uygulamak ve hata durumlarını kaydetmek gibi özellikleri içerebilir.</a:t>
            </a:r>
          </a:p>
          <a:p>
            <a:pPr algn="l">
              <a:buFont typeface="Wingdings" panose="05000000000000000000" pitchFamily="2" charset="2"/>
              <a:buChar char="Ø"/>
            </a:pPr>
            <a:r>
              <a:rPr lang="tr-TR" sz="2500" i="0">
                <a:solidFill>
                  <a:srgbClr val="512A5A"/>
                </a:solidFill>
                <a:effectLst/>
              </a:rPr>
              <a:t>Ölçeklenebilirlik:</a:t>
            </a:r>
            <a:r>
              <a:rPr lang="tr-TR" sz="2500" b="0" i="0">
                <a:solidFill>
                  <a:srgbClr val="512A5A"/>
                </a:solidFill>
                <a:effectLst/>
              </a:rPr>
              <a:t> </a:t>
            </a:r>
            <a:r>
              <a:rPr lang="tr-TR" sz="2500" b="0" i="0">
                <a:solidFill>
                  <a:srgbClr val="374151"/>
                </a:solidFill>
                <a:effectLst/>
              </a:rPr>
              <a:t>Message Broker'lar genellikle ölçeklenebilir olmalıdır, yani artan taleplerle başa çıkabilmelidir. Büyük veri akışlarını işleyebilmek ve yüksek performans sağlamak önemlidir.</a:t>
            </a:r>
          </a:p>
          <a:p>
            <a:pPr algn="l">
              <a:buFont typeface="Wingdings" panose="05000000000000000000" pitchFamily="2" charset="2"/>
              <a:buChar char="Ø"/>
            </a:pPr>
            <a:r>
              <a:rPr lang="tr-TR" sz="2500" b="0" i="0">
                <a:solidFill>
                  <a:srgbClr val="374151"/>
                </a:solidFill>
                <a:effectLst/>
              </a:rPr>
              <a:t>Popüler Message Broker sistemleri arasında </a:t>
            </a:r>
            <a:r>
              <a:rPr lang="tr-TR" sz="2500" b="0" i="0" u="sng">
                <a:solidFill>
                  <a:srgbClr val="FF6600"/>
                </a:solidFill>
                <a:effectLst/>
              </a:rPr>
              <a:t>Rabbit</a:t>
            </a:r>
            <a:r>
              <a:rPr lang="tr-TR" sz="2500" b="0" i="0" u="sng">
                <a:solidFill>
                  <a:srgbClr val="A6B3AC"/>
                </a:solidFill>
                <a:effectLst/>
              </a:rPr>
              <a:t>MQ</a:t>
            </a:r>
            <a:r>
              <a:rPr lang="tr-TR" sz="2500" b="0" i="0" u="sng">
                <a:solidFill>
                  <a:srgbClr val="374151"/>
                </a:solidFill>
                <a:effectLst/>
              </a:rPr>
              <a:t>, Apache </a:t>
            </a:r>
            <a:r>
              <a:rPr lang="tr-TR" sz="2500" b="1" i="0" u="sng">
                <a:solidFill>
                  <a:schemeClr val="tx1"/>
                </a:solidFill>
                <a:effectLst/>
              </a:rPr>
              <a:t>Kafka</a:t>
            </a:r>
            <a:r>
              <a:rPr lang="tr-TR" sz="2500" b="0" i="0">
                <a:solidFill>
                  <a:srgbClr val="374151"/>
                </a:solidFill>
                <a:effectLst/>
              </a:rPr>
              <a:t>, Apache ActiveMQ, MQTT broker'ları bulunmaktadır. Bu araçlar, çeşitli kullanım durumlarına ve gereksinimlere göre seçilebilir</a:t>
            </a:r>
          </a:p>
          <a:p>
            <a:endParaRPr lang="tr-TR"/>
          </a:p>
        </p:txBody>
      </p:sp>
      <p:pic>
        <p:nvPicPr>
          <p:cNvPr id="4" name="Resim 3">
            <a:extLst>
              <a:ext uri="{FF2B5EF4-FFF2-40B4-BE49-F238E27FC236}">
                <a16:creationId xmlns:a16="http://schemas.microsoft.com/office/drawing/2014/main" id="{904EC8F4-153C-D8A5-44F8-170E7DF5EF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spTree>
    <p:extLst>
      <p:ext uri="{BB962C8B-B14F-4D97-AF65-F5344CB8AC3E}">
        <p14:creationId xmlns:p14="http://schemas.microsoft.com/office/powerpoint/2010/main" val="2106206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rgbClr val="FF6600"/>
                </a:solidFill>
                <a:latin typeface="Comic Sans MS" panose="030F0702030302020204" pitchFamily="66" charset="0"/>
              </a:rPr>
              <a:t>Rabbit</a:t>
            </a:r>
            <a:r>
              <a:rPr lang="tr-TR">
                <a:solidFill>
                  <a:srgbClr val="A6B3AC"/>
                </a:solidFill>
                <a:latin typeface="Comic Sans MS" panose="030F0702030302020204" pitchFamily="66" charset="0"/>
              </a:rPr>
              <a:t>MQ</a:t>
            </a:r>
            <a:r>
              <a:rPr lang="tr-TR">
                <a:solidFill>
                  <a:schemeClr val="bg1"/>
                </a:solidFill>
                <a:latin typeface="Comic Sans MS" panose="030F0702030302020204" pitchFamily="66" charset="0"/>
              </a:rPr>
              <a:t> Nedir ?</a:t>
            </a: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a:xfrm>
            <a:off x="1154954" y="2453490"/>
            <a:ext cx="5725680" cy="4218914"/>
          </a:xfrm>
        </p:spPr>
        <p:txBody>
          <a:bodyPr>
            <a:normAutofit fontScale="85000" lnSpcReduction="20000"/>
          </a:bodyPr>
          <a:lstStyle/>
          <a:p>
            <a:endParaRPr lang="tr-TR"/>
          </a:p>
          <a:p>
            <a:pPr>
              <a:buFont typeface="Wingdings" panose="05000000000000000000" pitchFamily="2" charset="2"/>
              <a:buChar char="Ø"/>
            </a:pPr>
            <a:r>
              <a:rPr lang="tr-TR" sz="1600" b="0" i="0">
                <a:solidFill>
                  <a:srgbClr val="242424"/>
                </a:solidFill>
                <a:effectLst/>
              </a:rPr>
              <a:t>RabbitMQ </a:t>
            </a:r>
            <a:r>
              <a:rPr lang="tr-TR" sz="1600" b="1" i="0">
                <a:solidFill>
                  <a:srgbClr val="512A5A"/>
                </a:solidFill>
                <a:effectLst/>
              </a:rPr>
              <a:t>mesaj kuyruğu (message queue)</a:t>
            </a:r>
            <a:r>
              <a:rPr lang="tr-TR" sz="1600" b="0" i="0">
                <a:solidFill>
                  <a:srgbClr val="512A5A"/>
                </a:solidFill>
                <a:effectLst/>
              </a:rPr>
              <a:t> </a:t>
            </a:r>
            <a:r>
              <a:rPr lang="tr-TR" sz="1600" b="0" i="0">
                <a:solidFill>
                  <a:srgbClr val="242424"/>
                </a:solidFill>
                <a:effectLst/>
              </a:rPr>
              <a:t>sistemidir. Yazdığımız programımız üzerinden yapılacak </a:t>
            </a:r>
            <a:r>
              <a:rPr lang="tr-TR" sz="1600" b="1" i="0">
                <a:solidFill>
                  <a:srgbClr val="512A5A"/>
                </a:solidFill>
                <a:effectLst/>
              </a:rPr>
              <a:t>asenkron (asynchronous)</a:t>
            </a:r>
            <a:r>
              <a:rPr lang="tr-TR" sz="1600" b="0" i="0">
                <a:solidFill>
                  <a:srgbClr val="512A5A"/>
                </a:solidFill>
                <a:effectLst/>
              </a:rPr>
              <a:t> </a:t>
            </a:r>
            <a:r>
              <a:rPr lang="tr-TR" sz="1600" b="0" i="0">
                <a:solidFill>
                  <a:srgbClr val="242424"/>
                </a:solidFill>
                <a:effectLst/>
              </a:rPr>
              <a:t>işlemleri sıraya koyup, bunları sırayla kuyruktan çekip gerçekleyerek ilerleyen ölçeklenebilir ve performanslı bir yazılımdır. </a:t>
            </a:r>
            <a:r>
              <a:rPr lang="tr-TR" sz="1600" b="0" i="0">
                <a:solidFill>
                  <a:srgbClr val="FF6600"/>
                </a:solidFill>
                <a:effectLst/>
              </a:rPr>
              <a:t>Rabbit</a:t>
            </a:r>
            <a:r>
              <a:rPr lang="tr-TR" sz="1600" b="0" i="0">
                <a:solidFill>
                  <a:srgbClr val="A6B3AC"/>
                </a:solidFill>
                <a:effectLst/>
              </a:rPr>
              <a:t>MQ </a:t>
            </a:r>
            <a:r>
              <a:rPr lang="tr-TR" sz="1600" b="0" i="0">
                <a:solidFill>
                  <a:srgbClr val="242424"/>
                </a:solidFill>
                <a:effectLst/>
              </a:rPr>
              <a:t>kullanabileceğimiz senaryolar;</a:t>
            </a:r>
          </a:p>
          <a:p>
            <a:pPr>
              <a:buFont typeface="Wingdings" panose="05000000000000000000" pitchFamily="2" charset="2"/>
              <a:buChar char="Ø"/>
            </a:pPr>
            <a:r>
              <a:rPr lang="tr-TR" sz="1600"/>
              <a:t>Son kullanıcıyı etkilemeyen arka plan işlemlerinde</a:t>
            </a:r>
          </a:p>
          <a:p>
            <a:pPr>
              <a:buFont typeface="Wingdings" panose="05000000000000000000" pitchFamily="2" charset="2"/>
              <a:buChar char="Ø"/>
            </a:pPr>
            <a:r>
              <a:rPr lang="tr-TR" sz="1600"/>
              <a:t>Farklı platformlardaki uygulamalar arasında asenkron veri transferi işlemlerinde</a:t>
            </a:r>
            <a:r>
              <a:rPr lang="tr-TR" sz="1600">
                <a:solidFill>
                  <a:srgbClr val="512A5A"/>
                </a:solidFill>
              </a:rPr>
              <a:t>-</a:t>
            </a:r>
            <a:r>
              <a:rPr lang="tr-TR" sz="1600" b="0" i="0">
                <a:solidFill>
                  <a:srgbClr val="512A5A"/>
                </a:solidFill>
                <a:effectLst/>
              </a:rPr>
              <a:t>Belirli bir depolama alanında bulunan dosyaların farklı platformlardaki uygulamalar arasında düzenli olarak senkronize edilmesi veya transfer edilmesi, asenkron veri transferi örneği olabilir-</a:t>
            </a:r>
            <a:endParaRPr lang="tr-TR" sz="1600">
              <a:solidFill>
                <a:srgbClr val="512A5A"/>
              </a:solidFill>
            </a:endParaRPr>
          </a:p>
          <a:p>
            <a:pPr>
              <a:buFont typeface="Wingdings" panose="05000000000000000000" pitchFamily="2" charset="2"/>
              <a:buChar char="Ø"/>
            </a:pPr>
            <a:r>
              <a:rPr lang="tr-TR" sz="1600"/>
              <a:t>Anlık işlemlerin çok önemli olmadığı işlemlerde (</a:t>
            </a:r>
            <a:r>
              <a:rPr lang="tr-TR" sz="1600">
                <a:solidFill>
                  <a:srgbClr val="512A5A"/>
                </a:solidFill>
              </a:rPr>
              <a:t>siparişiniz yola çıktı maili-sms</a:t>
            </a:r>
            <a:r>
              <a:rPr lang="tr-TR" sz="1600"/>
              <a:t>)</a:t>
            </a:r>
          </a:p>
          <a:p>
            <a:pPr>
              <a:buFont typeface="Wingdings" panose="05000000000000000000" pitchFamily="2" charset="2"/>
              <a:buChar char="Ø"/>
            </a:pPr>
            <a:r>
              <a:rPr lang="tr-TR" sz="1600"/>
              <a:t>Veri tutarlılığının önemli olduğu işlemlerde (</a:t>
            </a:r>
            <a:r>
              <a:rPr lang="tr-TR" sz="1600">
                <a:solidFill>
                  <a:srgbClr val="512A5A"/>
                </a:solidFill>
              </a:rPr>
              <a:t>siparişler sonucu stok miktarının tutarlılığı</a:t>
            </a:r>
            <a:r>
              <a:rPr lang="tr-TR" sz="1600"/>
              <a:t>)</a:t>
            </a:r>
          </a:p>
          <a:p>
            <a:pPr>
              <a:buFont typeface="Wingdings" panose="05000000000000000000" pitchFamily="2" charset="2"/>
              <a:buChar char="Ø"/>
            </a:pPr>
            <a:r>
              <a:rPr lang="tr-TR" sz="1600"/>
              <a:t>İşlem hacminin büyük olduğu sunucuyu yoran işlemlerde kullanılabilir.</a:t>
            </a:r>
          </a:p>
          <a:p>
            <a:pPr>
              <a:buFont typeface="Wingdings" panose="05000000000000000000" pitchFamily="2" charset="2"/>
              <a:buChar char="Ø"/>
            </a:pPr>
            <a:endParaRPr lang="tr-TR" sz="1200" b="0" i="0">
              <a:solidFill>
                <a:srgbClr val="242424"/>
              </a:solidFill>
              <a:effectLst/>
            </a:endParaRPr>
          </a:p>
          <a:p>
            <a:endParaRPr lang="tr-TR" sz="1200"/>
          </a:p>
        </p:txBody>
      </p:sp>
      <p:sp>
        <p:nvSpPr>
          <p:cNvPr id="5" name="İçerik Yer Tutucusu 4">
            <a:extLst>
              <a:ext uri="{FF2B5EF4-FFF2-40B4-BE49-F238E27FC236}">
                <a16:creationId xmlns:a16="http://schemas.microsoft.com/office/drawing/2014/main" id="{9C1C8083-A62B-7ED2-16E6-2738B37E1C4D}"/>
              </a:ext>
            </a:extLst>
          </p:cNvPr>
          <p:cNvSpPr>
            <a:spLocks noGrp="1"/>
          </p:cNvSpPr>
          <p:nvPr>
            <p:ph sz="half" idx="2"/>
          </p:nvPr>
        </p:nvSpPr>
        <p:spPr>
          <a:xfrm>
            <a:off x="8627951" y="3874883"/>
            <a:ext cx="3241142" cy="2245259"/>
          </a:xfrm>
        </p:spPr>
        <p:txBody>
          <a:bodyPr>
            <a:normAutofit fontScale="85000" lnSpcReduction="20000"/>
          </a:bodyPr>
          <a:lstStyle/>
          <a:p>
            <a:pPr algn="l" fontAlgn="base">
              <a:buFont typeface="Wingdings" panose="05000000000000000000" pitchFamily="2" charset="2"/>
              <a:buChar char="Ø"/>
            </a:pPr>
            <a:r>
              <a:rPr lang="tr-TR" sz="1200" i="0">
                <a:solidFill>
                  <a:srgbClr val="666666"/>
                </a:solidFill>
                <a:effectLst/>
                <a:hlinkClick r:id="rId3"/>
              </a:rPr>
              <a:t>Erland</a:t>
            </a:r>
            <a:r>
              <a:rPr lang="tr-TR" sz="1200" i="0">
                <a:solidFill>
                  <a:srgbClr val="666666"/>
                </a:solidFill>
                <a:effectLst/>
              </a:rPr>
              <a:t> diliyle geliştirilmiştir.</a:t>
            </a:r>
          </a:p>
          <a:p>
            <a:pPr algn="l" fontAlgn="base">
              <a:buFont typeface="Wingdings" panose="05000000000000000000" pitchFamily="2" charset="2"/>
              <a:buChar char="Ø"/>
            </a:pPr>
            <a:r>
              <a:rPr lang="tr-TR" sz="1200" i="0">
                <a:solidFill>
                  <a:srgbClr val="666666"/>
                </a:solidFill>
                <a:effectLst/>
              </a:rPr>
              <a:t>Open Source</a:t>
            </a:r>
          </a:p>
          <a:p>
            <a:pPr algn="l" fontAlgn="base">
              <a:buFont typeface="Wingdings" panose="05000000000000000000" pitchFamily="2" charset="2"/>
              <a:buChar char="Ø"/>
            </a:pPr>
            <a:r>
              <a:rPr lang="tr-TR" sz="1200" i="0">
                <a:solidFill>
                  <a:srgbClr val="666666"/>
                </a:solidFill>
                <a:effectLst/>
              </a:rPr>
              <a:t>AMQP(Advanced Message Queuing Protocol) protokolünü kullanır.</a:t>
            </a:r>
          </a:p>
          <a:p>
            <a:pPr algn="l" fontAlgn="base">
              <a:buFont typeface="Wingdings" panose="05000000000000000000" pitchFamily="2" charset="2"/>
              <a:buChar char="Ø"/>
            </a:pPr>
            <a:r>
              <a:rPr lang="tr-TR" sz="1200" i="0">
                <a:solidFill>
                  <a:srgbClr val="666666"/>
                </a:solidFill>
                <a:effectLst/>
              </a:rPr>
              <a:t>Cross Platform </a:t>
            </a:r>
          </a:p>
          <a:p>
            <a:pPr algn="l" fontAlgn="base">
              <a:buFont typeface="Wingdings" panose="05000000000000000000" pitchFamily="2" charset="2"/>
              <a:buChar char="Ø"/>
            </a:pPr>
            <a:r>
              <a:rPr lang="tr-TR" sz="1200">
                <a:solidFill>
                  <a:srgbClr val="666666"/>
                </a:solidFill>
              </a:rPr>
              <a:t>İ</a:t>
            </a:r>
            <a:r>
              <a:rPr lang="tr-TR" sz="1200" i="0">
                <a:solidFill>
                  <a:srgbClr val="666666"/>
                </a:solidFill>
                <a:effectLst/>
              </a:rPr>
              <a:t>yi bir dökümantasyonu mevcuttur. </a:t>
            </a:r>
          </a:p>
          <a:p>
            <a:pPr algn="l" fontAlgn="base">
              <a:buFont typeface="Wingdings" panose="05000000000000000000" pitchFamily="2" charset="2"/>
              <a:buChar char="Ø"/>
            </a:pPr>
            <a:r>
              <a:rPr lang="tr-TR" sz="1200" i="0" u="sng">
                <a:solidFill>
                  <a:srgbClr val="512A5A"/>
                </a:solidFill>
                <a:effectLst/>
                <a:hlinkClick r:id="rId4">
                  <a:extLst>
                    <a:ext uri="{A12FA001-AC4F-418D-AE19-62706E023703}">
                      <ahyp:hlinkClr xmlns:ahyp="http://schemas.microsoft.com/office/drawing/2018/hyperlinkcolor" val="tx"/>
                    </a:ext>
                  </a:extLst>
                </a:hlinkClick>
              </a:rPr>
              <a:t>https://www.rabbitmq.com/getstarted.html</a:t>
            </a:r>
            <a:endParaRPr lang="tr-TR" sz="1200" i="0">
              <a:solidFill>
                <a:srgbClr val="512A5A"/>
              </a:solidFill>
              <a:effectLst/>
            </a:endParaRPr>
          </a:p>
          <a:p>
            <a:pPr fontAlgn="base">
              <a:buFont typeface="Wingdings" panose="05000000000000000000" pitchFamily="2" charset="2"/>
              <a:buChar char="Ø"/>
            </a:pPr>
            <a:r>
              <a:rPr lang="tr-TR" sz="1200" i="0">
                <a:solidFill>
                  <a:srgbClr val="666666"/>
                </a:solidFill>
                <a:effectLst/>
              </a:rPr>
              <a:t>Cloud tarafında web arayüz sunarak kullanım kolaylığı sağlamaktadır.</a:t>
            </a:r>
          </a:p>
          <a:p>
            <a:pPr marL="0" indent="0">
              <a:buNone/>
            </a:pPr>
            <a:endParaRPr lang="tr-TR"/>
          </a:p>
        </p:txBody>
      </p:sp>
      <p:pic>
        <p:nvPicPr>
          <p:cNvPr id="4" name="Resim 3">
            <a:extLst>
              <a:ext uri="{FF2B5EF4-FFF2-40B4-BE49-F238E27FC236}">
                <a16:creationId xmlns:a16="http://schemas.microsoft.com/office/drawing/2014/main" id="{AD8796D0-A74E-1F79-CDA2-21756FC781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spTree>
    <p:extLst>
      <p:ext uri="{BB962C8B-B14F-4D97-AF65-F5344CB8AC3E}">
        <p14:creationId xmlns:p14="http://schemas.microsoft.com/office/powerpoint/2010/main" val="3445183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rgbClr val="FF6600"/>
                </a:solidFill>
                <a:latin typeface="Comic Sans MS" panose="030F0702030302020204" pitchFamily="66" charset="0"/>
              </a:rPr>
              <a:t>Rabbit</a:t>
            </a:r>
            <a:r>
              <a:rPr lang="tr-TR">
                <a:solidFill>
                  <a:srgbClr val="A6B3AC"/>
                </a:solidFill>
                <a:latin typeface="Comic Sans MS" panose="030F0702030302020204" pitchFamily="66" charset="0"/>
              </a:rPr>
              <a:t>MQ</a:t>
            </a:r>
            <a:endParaRPr lang="tr-TR">
              <a:solidFill>
                <a:schemeClr val="bg1"/>
              </a:solidFill>
              <a:latin typeface="Comic Sans MS" panose="030F0702030302020204" pitchFamily="66" charset="0"/>
            </a:endParaRP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lstStyle/>
          <a:p>
            <a:endParaRPr lang="tr-TR"/>
          </a:p>
          <a:p>
            <a:endParaRPr lang="tr-TR"/>
          </a:p>
        </p:txBody>
      </p:sp>
      <p:pic>
        <p:nvPicPr>
          <p:cNvPr id="4" name="Resim 3">
            <a:extLst>
              <a:ext uri="{FF2B5EF4-FFF2-40B4-BE49-F238E27FC236}">
                <a16:creationId xmlns:a16="http://schemas.microsoft.com/office/drawing/2014/main" id="{772F36A0-C2D3-6053-1826-5D775E298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6" name="Resim 5">
            <a:extLst>
              <a:ext uri="{FF2B5EF4-FFF2-40B4-BE49-F238E27FC236}">
                <a16:creationId xmlns:a16="http://schemas.microsoft.com/office/drawing/2014/main" id="{F092BEBD-A83D-38BD-BD65-7A8FAA59D8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68055"/>
            <a:ext cx="10734393" cy="2091350"/>
          </a:xfrm>
          <a:prstGeom prst="rect">
            <a:avLst/>
          </a:prstGeom>
        </p:spPr>
      </p:pic>
      <p:sp>
        <p:nvSpPr>
          <p:cNvPr id="8" name="Rectangle 1">
            <a:extLst>
              <a:ext uri="{FF2B5EF4-FFF2-40B4-BE49-F238E27FC236}">
                <a16:creationId xmlns:a16="http://schemas.microsoft.com/office/drawing/2014/main" id="{54232E8D-C5EA-6C01-D5E9-0A815CF53C4C}"/>
              </a:ext>
            </a:extLst>
          </p:cNvPr>
          <p:cNvSpPr>
            <a:spLocks noGrp="1" noChangeArrowheads="1"/>
          </p:cNvSpPr>
          <p:nvPr>
            <p:ph sz="half" idx="2"/>
          </p:nvPr>
        </p:nvSpPr>
        <p:spPr bwMode="auto">
          <a:xfrm>
            <a:off x="1031875" y="4485491"/>
            <a:ext cx="10339277"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i="0" u="none" strike="noStrike" cap="none" normalizeH="0" baseline="0">
                <a:ln>
                  <a:noFill/>
                </a:ln>
                <a:solidFill>
                  <a:srgbClr val="512A5A"/>
                </a:solidFill>
                <a:effectLst/>
              </a:rPr>
              <a:t>Producer/Publisher(yayıncı): </a:t>
            </a:r>
            <a:r>
              <a:rPr kumimoji="0" lang="tr-TR" altLang="tr-TR" sz="1400" b="0" i="0" u="none" strike="noStrike" cap="none" normalizeH="0" baseline="0">
                <a:ln>
                  <a:noFill/>
                </a:ln>
                <a:solidFill>
                  <a:schemeClr val="tx1"/>
                </a:solidFill>
                <a:effectLst/>
              </a:rPr>
              <a:t>Queue'ya mesajı gönderen yapıya verilen isimdir.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i="0" u="none" strike="noStrike" cap="none" normalizeH="0" baseline="0">
                <a:ln>
                  <a:noFill/>
                </a:ln>
                <a:solidFill>
                  <a:srgbClr val="512A5A"/>
                </a:solidFill>
                <a:effectLst/>
              </a:rPr>
              <a:t>Exchange(yönlendirici): </a:t>
            </a:r>
            <a:r>
              <a:rPr kumimoji="0" lang="tr-TR" altLang="tr-TR" sz="1400" b="0" i="0" u="none" strike="noStrike" cap="none" normalizeH="0" baseline="0">
                <a:ln>
                  <a:noFill/>
                </a:ln>
                <a:solidFill>
                  <a:schemeClr val="tx1"/>
                </a:solidFill>
                <a:effectLst/>
              </a:rPr>
              <a:t>Routing yani kuyruğa iletilen mesajı yönlendiren yapı.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i="0" u="none" strike="noStrike" cap="none" normalizeH="0" baseline="0">
                <a:ln>
                  <a:noFill/>
                </a:ln>
                <a:solidFill>
                  <a:srgbClr val="512A5A"/>
                </a:solidFill>
                <a:effectLst/>
              </a:rPr>
              <a:t>Queue(kuyruk): </a:t>
            </a:r>
            <a:r>
              <a:rPr kumimoji="0" lang="tr-TR" altLang="tr-TR" sz="1400" b="0" i="0" u="none" strike="noStrike" cap="none" normalizeH="0" baseline="0">
                <a:ln>
                  <a:noFill/>
                </a:ln>
                <a:solidFill>
                  <a:schemeClr val="tx1"/>
                </a:solidFill>
                <a:effectLst/>
              </a:rPr>
              <a:t>First-in-first-out(FIFO) ilk giren ilk çıkar mantığıyla çalışan kuyruk yapısı.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i="0" u="none" strike="noStrike" cap="none" normalizeH="0" baseline="0">
                <a:ln>
                  <a:noFill/>
                </a:ln>
                <a:solidFill>
                  <a:srgbClr val="512A5A"/>
                </a:solidFill>
                <a:effectLst/>
              </a:rPr>
              <a:t>Consumer(tüketici): </a:t>
            </a:r>
            <a:r>
              <a:rPr kumimoji="0" lang="tr-TR" altLang="tr-TR" sz="1400" b="0" i="0" u="none" strike="noStrike" cap="none" normalizeH="0" baseline="0">
                <a:ln>
                  <a:noFill/>
                </a:ln>
                <a:solidFill>
                  <a:schemeClr val="tx1"/>
                </a:solidFill>
                <a:effectLst/>
              </a:rPr>
              <a:t>Queue'yu dinleyerek ilgili mesajları teslim alan yapıya verilen isimdir.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1245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rgbClr val="FF6600"/>
                </a:solidFill>
                <a:latin typeface="Comic Sans MS" panose="030F0702030302020204" pitchFamily="66" charset="0"/>
              </a:rPr>
              <a:t>Rabbit</a:t>
            </a:r>
            <a:r>
              <a:rPr lang="tr-TR">
                <a:solidFill>
                  <a:srgbClr val="A6B3AC"/>
                </a:solidFill>
                <a:latin typeface="Comic Sans MS" panose="030F0702030302020204" pitchFamily="66" charset="0"/>
              </a:rPr>
              <a:t>MQ</a:t>
            </a:r>
            <a:endParaRPr lang="tr-TR">
              <a:solidFill>
                <a:schemeClr val="bg1"/>
              </a:solidFill>
              <a:latin typeface="Comic Sans MS" panose="030F0702030302020204" pitchFamily="66" charset="0"/>
            </a:endParaRP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lstStyle/>
          <a:p>
            <a:endParaRPr lang="tr-TR"/>
          </a:p>
          <a:p>
            <a:endParaRPr lang="tr-TR"/>
          </a:p>
        </p:txBody>
      </p:sp>
      <p:pic>
        <p:nvPicPr>
          <p:cNvPr id="4" name="Resim 3">
            <a:extLst>
              <a:ext uri="{FF2B5EF4-FFF2-40B4-BE49-F238E27FC236}">
                <a16:creationId xmlns:a16="http://schemas.microsoft.com/office/drawing/2014/main" id="{772F36A0-C2D3-6053-1826-5D775E298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6" name="Resim 5">
            <a:extLst>
              <a:ext uri="{FF2B5EF4-FFF2-40B4-BE49-F238E27FC236}">
                <a16:creationId xmlns:a16="http://schemas.microsoft.com/office/drawing/2014/main" id="{F092BEBD-A83D-38BD-BD65-7A8FAA59D8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68055"/>
            <a:ext cx="10734393" cy="2091350"/>
          </a:xfrm>
          <a:prstGeom prst="rect">
            <a:avLst/>
          </a:prstGeom>
        </p:spPr>
      </p:pic>
      <p:sp>
        <p:nvSpPr>
          <p:cNvPr id="8" name="Rectangle 1">
            <a:extLst>
              <a:ext uri="{FF2B5EF4-FFF2-40B4-BE49-F238E27FC236}">
                <a16:creationId xmlns:a16="http://schemas.microsoft.com/office/drawing/2014/main" id="{54232E8D-C5EA-6C01-D5E9-0A815CF53C4C}"/>
              </a:ext>
            </a:extLst>
          </p:cNvPr>
          <p:cNvSpPr>
            <a:spLocks noGrp="1" noChangeArrowheads="1"/>
          </p:cNvSpPr>
          <p:nvPr>
            <p:ph sz="half" idx="2"/>
          </p:nvPr>
        </p:nvSpPr>
        <p:spPr bwMode="auto">
          <a:xfrm>
            <a:off x="1031875" y="4357250"/>
            <a:ext cx="10339277" cy="1764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a:ln>
                <a:noFill/>
              </a:ln>
              <a:solidFill>
                <a:schemeClr val="tx1"/>
              </a:solidFill>
              <a:effectLst/>
              <a:latin typeface="Arial" panose="020B0604020202020204" pitchFamily="34" charset="0"/>
            </a:endParaRPr>
          </a:p>
          <a:p>
            <a:pPr>
              <a:buFont typeface="Wingdings" panose="05000000000000000000" pitchFamily="2" charset="2"/>
              <a:buChar char="Ø"/>
            </a:pPr>
            <a:r>
              <a:rPr lang="tr-TR" sz="1400"/>
              <a:t>Bir Producer(Yayıncı) mesajı yayınlar, Exchange(yönlendirici) ilgili mesajı ilgili kuyruğa iletir ve dinleyiciler ilgili kuyruktan dinleme işlemini gerçekleştirir.</a:t>
            </a:r>
          </a:p>
          <a:p>
            <a:pPr>
              <a:buFont typeface="Wingdings" panose="05000000000000000000" pitchFamily="2" charset="2"/>
              <a:buChar char="Ø"/>
            </a:pPr>
            <a:r>
              <a:rPr lang="tr-TR" sz="1400"/>
              <a:t>Producer/Publisher/Yayıncı illa ki </a:t>
            </a:r>
            <a:r>
              <a:rPr lang="tr-TR" sz="1400">
                <a:solidFill>
                  <a:srgbClr val="512A5A"/>
                </a:solidFill>
              </a:rPr>
              <a:t>Exchange</a:t>
            </a:r>
            <a:r>
              <a:rPr lang="tr-TR" sz="1400"/>
              <a:t> kullanmak zorunda değildir. Doğrudan Queue'ya mesajı iletebilir. Consumer birden fazla kuyruğu dinleyebildiği gibi bir kuyruğu da birden fazla consumer dinleyebilir.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2600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a:xfrm>
            <a:off x="1154954" y="973668"/>
            <a:ext cx="8761413" cy="1015388"/>
          </a:xfrm>
        </p:spPr>
        <p:txBody>
          <a:bodyPr>
            <a:normAutofit/>
          </a:bodyPr>
          <a:lstStyle/>
          <a:p>
            <a:pPr algn="ctr"/>
            <a:r>
              <a:rPr lang="tr-TR" sz="2800">
                <a:solidFill>
                  <a:srgbClr val="FF6600"/>
                </a:solidFill>
                <a:latin typeface="Comic Sans MS" panose="030F0702030302020204" pitchFamily="66" charset="0"/>
              </a:rPr>
              <a:t>Rabbit</a:t>
            </a:r>
            <a:r>
              <a:rPr lang="tr-TR" sz="2800">
                <a:solidFill>
                  <a:srgbClr val="A6B3AC"/>
                </a:solidFill>
                <a:latin typeface="Comic Sans MS" panose="030F0702030302020204" pitchFamily="66" charset="0"/>
              </a:rPr>
              <a:t>MQ</a:t>
            </a:r>
            <a:endParaRPr lang="tr-TR" sz="2800">
              <a:solidFill>
                <a:schemeClr val="bg1"/>
              </a:solidFill>
            </a:endParaRPr>
          </a:p>
        </p:txBody>
      </p:sp>
      <p:sp>
        <p:nvSpPr>
          <p:cNvPr id="5" name="Metin Yer Tutucusu 4">
            <a:extLst>
              <a:ext uri="{FF2B5EF4-FFF2-40B4-BE49-F238E27FC236}">
                <a16:creationId xmlns:a16="http://schemas.microsoft.com/office/drawing/2014/main" id="{A6C1E4AC-D3A2-1638-3FD8-E52314152D5F}"/>
              </a:ext>
            </a:extLst>
          </p:cNvPr>
          <p:cNvSpPr>
            <a:spLocks noGrp="1"/>
          </p:cNvSpPr>
          <p:nvPr>
            <p:ph type="body" idx="1"/>
          </p:nvPr>
        </p:nvSpPr>
        <p:spPr/>
        <p:txBody>
          <a:bodyPr/>
          <a:lstStyle/>
          <a:p>
            <a:endParaRPr lang="tr-T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2"/>
          </p:nvPr>
        </p:nvSpPr>
        <p:spPr/>
        <p:txBody>
          <a:bodyPr/>
          <a:lstStyle/>
          <a:p>
            <a:endParaRPr lang="tr-TR"/>
          </a:p>
          <a:p>
            <a:endParaRPr lang="tr-TR"/>
          </a:p>
        </p:txBody>
      </p:sp>
      <p:pic>
        <p:nvPicPr>
          <p:cNvPr id="4" name="Resim 3">
            <a:extLst>
              <a:ext uri="{FF2B5EF4-FFF2-40B4-BE49-F238E27FC236}">
                <a16:creationId xmlns:a16="http://schemas.microsoft.com/office/drawing/2014/main" id="{18DBC51E-27C8-BB03-F0D9-467558205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7" name="Resim 6">
            <a:extLst>
              <a:ext uri="{FF2B5EF4-FFF2-40B4-BE49-F238E27FC236}">
                <a16:creationId xmlns:a16="http://schemas.microsoft.com/office/drawing/2014/main" id="{D22504C8-936B-D4F0-1BA1-A5533178A1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698" y="2379395"/>
            <a:ext cx="5997005" cy="3799595"/>
          </a:xfrm>
          <a:prstGeom prst="rect">
            <a:avLst/>
          </a:prstGeom>
        </p:spPr>
      </p:pic>
      <p:sp>
        <p:nvSpPr>
          <p:cNvPr id="9" name="Rectangle 1">
            <a:extLst>
              <a:ext uri="{FF2B5EF4-FFF2-40B4-BE49-F238E27FC236}">
                <a16:creationId xmlns:a16="http://schemas.microsoft.com/office/drawing/2014/main" id="{79BDCEFE-3274-1593-8CE9-BC8B33DED250}"/>
              </a:ext>
            </a:extLst>
          </p:cNvPr>
          <p:cNvSpPr>
            <a:spLocks noGrp="1" noChangeArrowheads="1"/>
          </p:cNvSpPr>
          <p:nvPr>
            <p:ph sz="quarter" idx="4"/>
          </p:nvPr>
        </p:nvSpPr>
        <p:spPr bwMode="auto">
          <a:xfrm>
            <a:off x="7151689" y="3799563"/>
            <a:ext cx="473551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b="0" i="0" u="none" strike="noStrike" cap="none" normalizeH="0" baseline="0">
                <a:ln>
                  <a:noFill/>
                </a:ln>
                <a:solidFill>
                  <a:schemeClr val="tx1"/>
                </a:solidFill>
                <a:effectLst/>
              </a:rPr>
              <a:t>Kullanıcı PDF oluşturma isteğini iletir.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b="0" i="0" u="none" strike="noStrike" cap="none" normalizeH="0" baseline="0">
                <a:ln>
                  <a:noFill/>
                </a:ln>
                <a:solidFill>
                  <a:schemeClr val="tx1"/>
                </a:solidFill>
                <a:effectLst/>
              </a:rPr>
              <a:t>Producer ilgili PDF oluşturma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b="0" i="0" u="none" strike="noStrike" cap="none" normalizeH="0" baseline="0">
                <a:ln>
                  <a:noFill/>
                </a:ln>
                <a:solidFill>
                  <a:schemeClr val="tx1"/>
                </a:solidFill>
                <a:effectLst/>
              </a:rPr>
              <a:t>isteğini RabbitMQ'ya </a:t>
            </a:r>
            <a:r>
              <a:rPr kumimoji="0" lang="tr-TR" altLang="tr-TR" sz="1400" b="1" i="0" u="none" strike="noStrike" cap="none" normalizeH="0" baseline="0">
                <a:ln>
                  <a:noFill/>
                </a:ln>
                <a:solidFill>
                  <a:schemeClr val="tx1"/>
                </a:solidFill>
                <a:effectLst/>
              </a:rPr>
              <a:t>(message broker'a)iletir.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b="0" i="0" u="none" strike="noStrike" cap="none" normalizeH="0" baseline="0">
                <a:ln>
                  <a:noFill/>
                </a:ln>
                <a:solidFill>
                  <a:schemeClr val="tx1"/>
                </a:solidFill>
                <a:effectLst/>
              </a:rPr>
              <a:t>RabbitMQ ilgili isteği, Exchange ile ya da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b="0" i="0" u="none" strike="noStrike" cap="none" normalizeH="0" baseline="0">
                <a:ln>
                  <a:noFill/>
                </a:ln>
                <a:solidFill>
                  <a:schemeClr val="tx1"/>
                </a:solidFill>
                <a:effectLst/>
              </a:rPr>
              <a:t>doğrudan kuyruğa ekler.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tr-TR" altLang="tr-TR" sz="1400" b="0" i="0" u="none" strike="noStrike" cap="none" normalizeH="0" baseline="0">
                <a:ln>
                  <a:noFill/>
                </a:ln>
                <a:solidFill>
                  <a:schemeClr val="tx1"/>
                </a:solidFill>
                <a:effectLst/>
              </a:rPr>
              <a:t>Consumer kuyruktaki PDF oluşturma isteğini alır ve PDF'i oluşturmaya başlar.</a:t>
            </a:r>
          </a:p>
        </p:txBody>
      </p:sp>
    </p:spTree>
    <p:extLst>
      <p:ext uri="{BB962C8B-B14F-4D97-AF65-F5344CB8AC3E}">
        <p14:creationId xmlns:p14="http://schemas.microsoft.com/office/powerpoint/2010/main" val="3913261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a:xfrm>
            <a:off x="1583703" y="973668"/>
            <a:ext cx="8332664" cy="706964"/>
          </a:xfrm>
        </p:spPr>
        <p:txBody>
          <a:bodyPr>
            <a:normAutofit/>
          </a:bodyPr>
          <a:lstStyle/>
          <a:p>
            <a:pPr algn="ctr"/>
            <a:r>
              <a:rPr lang="tr-TR">
                <a:solidFill>
                  <a:schemeClr val="bg1"/>
                </a:solidFill>
                <a:latin typeface="Comic Sans MS" panose="030F0702030302020204" pitchFamily="66" charset="0"/>
              </a:rPr>
              <a:t>Exchange-Binding-Routing Key</a:t>
            </a: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normAutofit/>
          </a:bodyPr>
          <a:lstStyle/>
          <a:p>
            <a:endParaRPr lang="tr-TR"/>
          </a:p>
          <a:p>
            <a:endParaRPr lang="tr-TR"/>
          </a:p>
        </p:txBody>
      </p:sp>
      <p:sp>
        <p:nvSpPr>
          <p:cNvPr id="8" name="İçerik Yer Tutucusu 7">
            <a:extLst>
              <a:ext uri="{FF2B5EF4-FFF2-40B4-BE49-F238E27FC236}">
                <a16:creationId xmlns:a16="http://schemas.microsoft.com/office/drawing/2014/main" id="{E5358047-9E9D-34C0-2A83-9E499746F60A}"/>
              </a:ext>
            </a:extLst>
          </p:cNvPr>
          <p:cNvSpPr>
            <a:spLocks noGrp="1"/>
          </p:cNvSpPr>
          <p:nvPr>
            <p:ph sz="half" idx="2"/>
          </p:nvPr>
        </p:nvSpPr>
        <p:spPr>
          <a:xfrm>
            <a:off x="6482281" y="2734147"/>
            <a:ext cx="4551590" cy="3150185"/>
          </a:xfrm>
        </p:spPr>
        <p:txBody>
          <a:bodyPr>
            <a:normAutofit/>
          </a:bodyPr>
          <a:lstStyle/>
          <a:p>
            <a:pPr marL="0" indent="0">
              <a:buNone/>
            </a:pPr>
            <a:r>
              <a:rPr lang="tr-TR" sz="1400">
                <a:solidFill>
                  <a:srgbClr val="512A5A"/>
                </a:solidFill>
              </a:rPr>
              <a:t>Exchange (Yönlendirici):</a:t>
            </a:r>
            <a:r>
              <a:rPr lang="tr-TR" sz="1400"/>
              <a:t>RabbitMQ'da mesajların iletilme şeklini belirleyen bir yapıdır. Mesajlar, bir üretici (producer) tarafından bir exchange'e gönderilir ve ardından bu exchange, mesajları bir veya birden çok kuyruğa iletebilir. Bu, sistemdeki farklı bileşenler arasında iletişimi düzenlemenin ve yönlendirmenin bir yolunu sağlar.</a:t>
            </a:r>
          </a:p>
          <a:p>
            <a:pPr marL="0" indent="0" algn="l" fontAlgn="base">
              <a:buNone/>
            </a:pPr>
            <a:r>
              <a:rPr lang="tr-TR" sz="1400" i="0">
                <a:solidFill>
                  <a:srgbClr val="512A5A"/>
                </a:solidFill>
                <a:effectLst/>
              </a:rPr>
              <a:t>Binding</a:t>
            </a:r>
            <a:r>
              <a:rPr lang="tr-TR" sz="1400" b="1" i="0">
                <a:solidFill>
                  <a:srgbClr val="512A5A"/>
                </a:solidFill>
                <a:effectLst/>
              </a:rPr>
              <a:t>:</a:t>
            </a:r>
            <a:r>
              <a:rPr lang="tr-TR" sz="1400" i="0">
                <a:solidFill>
                  <a:srgbClr val="666666"/>
                </a:solidFill>
                <a:effectLst/>
              </a:rPr>
              <a:t> Exchange ile Queue arasında kurulacak bağlantının yönlendirme kuralıdır. Exchange aldığı mesajları bu kurala göre ilgili kuyruklara dağıtır.</a:t>
            </a:r>
          </a:p>
          <a:p>
            <a:pPr marL="0" indent="0" algn="l" fontAlgn="base">
              <a:buNone/>
            </a:pPr>
            <a:r>
              <a:rPr lang="tr-TR" sz="1400" i="0">
                <a:solidFill>
                  <a:srgbClr val="512A5A"/>
                </a:solidFill>
                <a:effectLst/>
              </a:rPr>
              <a:t>Routing Key</a:t>
            </a:r>
            <a:r>
              <a:rPr lang="tr-TR" sz="1400" b="1" i="0">
                <a:solidFill>
                  <a:srgbClr val="512A5A"/>
                </a:solidFill>
                <a:effectLst/>
              </a:rPr>
              <a:t>:</a:t>
            </a:r>
            <a:r>
              <a:rPr lang="tr-TR" sz="1400" i="0">
                <a:solidFill>
                  <a:srgbClr val="512A5A"/>
                </a:solidFill>
                <a:effectLst/>
              </a:rPr>
              <a:t> </a:t>
            </a:r>
            <a:r>
              <a:rPr lang="tr-TR" sz="1400" i="0">
                <a:solidFill>
                  <a:srgbClr val="666666"/>
                </a:solidFill>
                <a:effectLst/>
              </a:rPr>
              <a:t>Producer tarafından üretilerek Exchange’e iletilen mesajın, hangi kuyruğa yönlendirileceğinin işaretlenerek bildirilmesidir.</a:t>
            </a:r>
          </a:p>
          <a:p>
            <a:endParaRPr lang="tr-TR" sz="1400"/>
          </a:p>
          <a:p>
            <a:endParaRPr lang="tr-TR" sz="1400"/>
          </a:p>
          <a:p>
            <a:endParaRPr lang="tr-TR" sz="1400"/>
          </a:p>
          <a:p>
            <a:endParaRPr lang="tr-TR" sz="1400"/>
          </a:p>
        </p:txBody>
      </p:sp>
      <p:pic>
        <p:nvPicPr>
          <p:cNvPr id="4" name="Resim 3">
            <a:extLst>
              <a:ext uri="{FF2B5EF4-FFF2-40B4-BE49-F238E27FC236}">
                <a16:creationId xmlns:a16="http://schemas.microsoft.com/office/drawing/2014/main" id="{BB4DA25A-F845-18E7-7EE8-867B6852A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sp>
        <p:nvSpPr>
          <p:cNvPr id="12" name="Dikdörtgen 11">
            <a:extLst>
              <a:ext uri="{FF2B5EF4-FFF2-40B4-BE49-F238E27FC236}">
                <a16:creationId xmlns:a16="http://schemas.microsoft.com/office/drawing/2014/main" id="{6B7D6609-B2E2-5289-F32B-E6D2622CFB4F}"/>
              </a:ext>
            </a:extLst>
          </p:cNvPr>
          <p:cNvSpPr/>
          <p:nvPr/>
        </p:nvSpPr>
        <p:spPr>
          <a:xfrm>
            <a:off x="6482282" y="5160474"/>
            <a:ext cx="4644428" cy="723857"/>
          </a:xfrm>
          <a:prstGeom prst="rect">
            <a:avLst/>
          </a:prstGeom>
          <a:noFill/>
          <a:ln>
            <a:solidFill>
              <a:srgbClr val="FFA8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Dikdörtgen 27">
            <a:extLst>
              <a:ext uri="{FF2B5EF4-FFF2-40B4-BE49-F238E27FC236}">
                <a16:creationId xmlns:a16="http://schemas.microsoft.com/office/drawing/2014/main" id="{F1F5C661-6848-867A-8038-46CE0315059C}"/>
              </a:ext>
            </a:extLst>
          </p:cNvPr>
          <p:cNvSpPr/>
          <p:nvPr/>
        </p:nvSpPr>
        <p:spPr>
          <a:xfrm>
            <a:off x="6482280" y="4371610"/>
            <a:ext cx="4644429" cy="653063"/>
          </a:xfrm>
          <a:prstGeom prst="rect">
            <a:avLst/>
          </a:prstGeom>
          <a:noFill/>
          <a:ln>
            <a:solidFill>
              <a:srgbClr val="1C90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5" name="Resim 34">
            <a:extLst>
              <a:ext uri="{FF2B5EF4-FFF2-40B4-BE49-F238E27FC236}">
                <a16:creationId xmlns:a16="http://schemas.microsoft.com/office/drawing/2014/main" id="{C402983D-AFB0-B017-02A3-11E43CC900EA}"/>
              </a:ext>
            </a:extLst>
          </p:cNvPr>
          <p:cNvPicPr>
            <a:picLocks noChangeAspect="1"/>
          </p:cNvPicPr>
          <p:nvPr/>
        </p:nvPicPr>
        <p:blipFill>
          <a:blip r:embed="rId4"/>
          <a:stretch>
            <a:fillRect/>
          </a:stretch>
        </p:blipFill>
        <p:spPr>
          <a:xfrm>
            <a:off x="10125778" y="5983244"/>
            <a:ext cx="2066222" cy="437949"/>
          </a:xfrm>
          <a:prstGeom prst="rect">
            <a:avLst/>
          </a:prstGeom>
        </p:spPr>
      </p:pic>
      <p:pic>
        <p:nvPicPr>
          <p:cNvPr id="6" name="İçerik Yer Tutucusu 37">
            <a:extLst>
              <a:ext uri="{FF2B5EF4-FFF2-40B4-BE49-F238E27FC236}">
                <a16:creationId xmlns:a16="http://schemas.microsoft.com/office/drawing/2014/main" id="{A8156EA1-5F6B-E1F6-543C-AA3C08694D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5161" y="2409991"/>
            <a:ext cx="4460499" cy="3239372"/>
          </a:xfrm>
          <a:prstGeom prst="rect">
            <a:avLst/>
          </a:prstGeom>
        </p:spPr>
      </p:pic>
      <p:sp>
        <p:nvSpPr>
          <p:cNvPr id="13" name="Dikdörtgen 12">
            <a:extLst>
              <a:ext uri="{FF2B5EF4-FFF2-40B4-BE49-F238E27FC236}">
                <a16:creationId xmlns:a16="http://schemas.microsoft.com/office/drawing/2014/main" id="{143AFD50-7F4E-C72D-997F-AE63794D18DC}"/>
              </a:ext>
            </a:extLst>
          </p:cNvPr>
          <p:cNvSpPr/>
          <p:nvPr/>
        </p:nvSpPr>
        <p:spPr>
          <a:xfrm flipH="1" flipV="1">
            <a:off x="2616451" y="3766236"/>
            <a:ext cx="2009870" cy="380249"/>
          </a:xfrm>
          <a:prstGeom prst="rect">
            <a:avLst/>
          </a:prstGeom>
          <a:noFill/>
          <a:ln>
            <a:solidFill>
              <a:srgbClr val="1C90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Dikdörtgen 13">
            <a:extLst>
              <a:ext uri="{FF2B5EF4-FFF2-40B4-BE49-F238E27FC236}">
                <a16:creationId xmlns:a16="http://schemas.microsoft.com/office/drawing/2014/main" id="{E6791B04-9313-8724-A02A-1AD9DA46AA0A}"/>
              </a:ext>
            </a:extLst>
          </p:cNvPr>
          <p:cNvSpPr/>
          <p:nvPr/>
        </p:nvSpPr>
        <p:spPr>
          <a:xfrm flipV="1">
            <a:off x="2616450" y="2603499"/>
            <a:ext cx="2009871" cy="380248"/>
          </a:xfrm>
          <a:prstGeom prst="rect">
            <a:avLst/>
          </a:prstGeom>
          <a:noFill/>
          <a:ln>
            <a:solidFill>
              <a:srgbClr val="FFA8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87366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chemeClr val="bg1"/>
                </a:solidFill>
                <a:latin typeface="Comic Sans MS" panose="030F0702030302020204" pitchFamily="66" charset="0"/>
              </a:rPr>
              <a:t>Fanout Exchange</a:t>
            </a: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normAutofit/>
          </a:bodyPr>
          <a:lstStyle/>
          <a:p>
            <a:endParaRPr lang="tr-TR"/>
          </a:p>
          <a:p>
            <a:endParaRPr lang="tr-TR"/>
          </a:p>
        </p:txBody>
      </p:sp>
      <p:sp>
        <p:nvSpPr>
          <p:cNvPr id="7" name="İçerik Yer Tutucusu 6">
            <a:extLst>
              <a:ext uri="{FF2B5EF4-FFF2-40B4-BE49-F238E27FC236}">
                <a16:creationId xmlns:a16="http://schemas.microsoft.com/office/drawing/2014/main" id="{9DBB52E4-8788-6919-35E0-C4F07C09061B}"/>
              </a:ext>
            </a:extLst>
          </p:cNvPr>
          <p:cNvSpPr>
            <a:spLocks noGrp="1"/>
          </p:cNvSpPr>
          <p:nvPr>
            <p:ph sz="half" idx="2"/>
          </p:nvPr>
        </p:nvSpPr>
        <p:spPr>
          <a:xfrm>
            <a:off x="6211887" y="3087231"/>
            <a:ext cx="4825159" cy="3064214"/>
          </a:xfrm>
        </p:spPr>
        <p:txBody>
          <a:bodyPr>
            <a:normAutofit/>
          </a:bodyPr>
          <a:lstStyle/>
          <a:p>
            <a:pPr marR="0" lvl="0" algn="l" defTabSz="914400" rtl="0" eaLnBrk="0" fontAlgn="base" latinLnBrk="0" hangingPunct="0">
              <a:lnSpc>
                <a:spcPct val="100000"/>
              </a:lnSpc>
              <a:spcBef>
                <a:spcPct val="0"/>
              </a:spcBef>
              <a:spcAft>
                <a:spcPct val="0"/>
              </a:spcAft>
              <a:buClr>
                <a:srgbClr val="512A5A"/>
              </a:buClr>
              <a:buSzTx/>
              <a:buFont typeface="Wingdings" panose="05000000000000000000" pitchFamily="2" charset="2"/>
              <a:buChar char="Ø"/>
              <a:tabLst/>
            </a:pPr>
            <a:r>
              <a:rPr kumimoji="0" lang="tr-TR" altLang="tr-TR" sz="1400" i="0" u="none" strike="noStrike" cap="none" normalizeH="0" baseline="0">
                <a:ln>
                  <a:noFill/>
                </a:ln>
                <a:solidFill>
                  <a:schemeClr val="bg2">
                    <a:lumMod val="50000"/>
                  </a:schemeClr>
                </a:solidFill>
                <a:effectLst/>
              </a:rPr>
              <a:t>En sade Exchange-yönlendirme- tipidir. Publisher(Producer) tarafından gönderilen mesajları alıp route key tanımlaması gibi ayrımlara ihtiyaç duymadan,Fanout Exchange’e bind olan bütün kuyruklara aynı ve eşit bir şekilde iletilmesini sağlayan yapıdır.</a:t>
            </a:r>
          </a:p>
          <a:p>
            <a:pPr marR="0" lvl="0" algn="l" defTabSz="914400" rtl="0" eaLnBrk="0" fontAlgn="base" latinLnBrk="0" hangingPunct="0">
              <a:lnSpc>
                <a:spcPct val="100000"/>
              </a:lnSpc>
              <a:spcBef>
                <a:spcPct val="0"/>
              </a:spcBef>
              <a:spcAft>
                <a:spcPct val="0"/>
              </a:spcAft>
              <a:buClr>
                <a:srgbClr val="512A5A"/>
              </a:buClr>
              <a:buSzTx/>
              <a:buFont typeface="Wingdings" panose="05000000000000000000" pitchFamily="2" charset="2"/>
              <a:buChar char="Ø"/>
              <a:tabLst/>
            </a:pPr>
            <a:endParaRPr kumimoji="0" lang="tr-TR" altLang="tr-TR" sz="1400" i="0" u="none" strike="noStrike" cap="none" normalizeH="0" baseline="0">
              <a:ln>
                <a:noFill/>
              </a:ln>
              <a:solidFill>
                <a:schemeClr val="bg2">
                  <a:lumMod val="50000"/>
                </a:schemeClr>
              </a:solidFill>
              <a:effectLst/>
            </a:endParaRPr>
          </a:p>
          <a:p>
            <a:pPr marR="0" lvl="0" algn="l" defTabSz="914400" rtl="0" eaLnBrk="0" fontAlgn="base" latinLnBrk="0" hangingPunct="0">
              <a:lnSpc>
                <a:spcPct val="100000"/>
              </a:lnSpc>
              <a:spcBef>
                <a:spcPct val="0"/>
              </a:spcBef>
              <a:spcAft>
                <a:spcPct val="0"/>
              </a:spcAft>
              <a:buClr>
                <a:srgbClr val="512A5A"/>
              </a:buClr>
              <a:buSzTx/>
              <a:buFont typeface="Wingdings" panose="05000000000000000000" pitchFamily="2" charset="2"/>
              <a:buChar char="Ø"/>
              <a:tabLst/>
            </a:pPr>
            <a:r>
              <a:rPr kumimoji="0" lang="tr-TR" altLang="tr-TR" sz="1400" i="0" u="none" strike="noStrike" cap="none" normalizeH="0" baseline="0">
                <a:ln>
                  <a:noFill/>
                </a:ln>
                <a:solidFill>
                  <a:schemeClr val="bg2">
                    <a:lumMod val="50000"/>
                  </a:schemeClr>
                </a:solidFill>
                <a:effectLst/>
              </a:rPr>
              <a:t>Consumer‘ın tek yapması gereken kuyruktaki mesajları okuyup işlemektir.</a:t>
            </a:r>
          </a:p>
          <a:p>
            <a:pPr marL="0" marR="0" lvl="0" indent="0" algn="l" defTabSz="914400" rtl="0" eaLnBrk="0" fontAlgn="base" latinLnBrk="0" hangingPunct="0">
              <a:lnSpc>
                <a:spcPct val="100000"/>
              </a:lnSpc>
              <a:spcBef>
                <a:spcPct val="0"/>
              </a:spcBef>
              <a:spcAft>
                <a:spcPct val="0"/>
              </a:spcAft>
              <a:buClr>
                <a:srgbClr val="512A5A"/>
              </a:buClr>
              <a:buSzTx/>
              <a:buNone/>
              <a:tabLst/>
            </a:pPr>
            <a:endParaRPr kumimoji="0" lang="tr-TR" altLang="tr-TR" sz="1400" i="0" u="none" strike="noStrike" cap="none" normalizeH="0" baseline="0">
              <a:ln>
                <a:noFill/>
              </a:ln>
              <a:solidFill>
                <a:schemeClr val="bg2">
                  <a:lumMod val="50000"/>
                </a:schemeClr>
              </a:solidFill>
              <a:effectLst/>
            </a:endParaRPr>
          </a:p>
        </p:txBody>
      </p:sp>
      <p:pic>
        <p:nvPicPr>
          <p:cNvPr id="4" name="Resim 3">
            <a:extLst>
              <a:ext uri="{FF2B5EF4-FFF2-40B4-BE49-F238E27FC236}">
                <a16:creationId xmlns:a16="http://schemas.microsoft.com/office/drawing/2014/main" id="{BB4DA25A-F845-18E7-7EE8-867B6852A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6" name="Resim 5">
            <a:extLst>
              <a:ext uri="{FF2B5EF4-FFF2-40B4-BE49-F238E27FC236}">
                <a16:creationId xmlns:a16="http://schemas.microsoft.com/office/drawing/2014/main" id="{53E05EBC-0579-62AA-47CD-1548099CEF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2844" y="2531943"/>
            <a:ext cx="4617268" cy="3416301"/>
          </a:xfrm>
          <a:prstGeom prst="rect">
            <a:avLst/>
          </a:prstGeom>
        </p:spPr>
      </p:pic>
    </p:spTree>
    <p:extLst>
      <p:ext uri="{BB962C8B-B14F-4D97-AF65-F5344CB8AC3E}">
        <p14:creationId xmlns:p14="http://schemas.microsoft.com/office/powerpoint/2010/main" val="74902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chemeClr val="bg1"/>
                </a:solidFill>
                <a:latin typeface="Comic Sans MS" panose="030F0702030302020204" pitchFamily="66" charset="0"/>
              </a:rPr>
              <a:t>Direct Exchange</a:t>
            </a: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normAutofit/>
          </a:bodyPr>
          <a:lstStyle/>
          <a:p>
            <a:endParaRPr lang="tr-TR" sz="1400" b="0" i="0">
              <a:solidFill>
                <a:srgbClr val="666666"/>
              </a:solidFill>
              <a:effectLst/>
            </a:endParaRPr>
          </a:p>
          <a:p>
            <a:endParaRPr lang="tr-TR" sz="1400">
              <a:solidFill>
                <a:srgbClr val="666666"/>
              </a:solidFill>
            </a:endParaRPr>
          </a:p>
          <a:p>
            <a:endParaRPr lang="tr-TR" sz="1400">
              <a:solidFill>
                <a:srgbClr val="666666"/>
              </a:solidFill>
            </a:endParaRPr>
          </a:p>
          <a:p>
            <a:endParaRPr lang="tr-TR" sz="1400">
              <a:solidFill>
                <a:srgbClr val="666666"/>
              </a:solidFill>
            </a:endParaRPr>
          </a:p>
          <a:p>
            <a:endParaRPr lang="tr-TR" sz="1400">
              <a:solidFill>
                <a:srgbClr val="666666"/>
              </a:solidFill>
            </a:endParaRPr>
          </a:p>
          <a:p>
            <a:endParaRPr lang="tr-TR" sz="1400">
              <a:solidFill>
                <a:srgbClr val="666666"/>
              </a:solidFill>
            </a:endParaRPr>
          </a:p>
          <a:p>
            <a:endParaRPr lang="tr-TR" sz="1400">
              <a:solidFill>
                <a:srgbClr val="666666"/>
              </a:solidFill>
            </a:endParaRPr>
          </a:p>
        </p:txBody>
      </p:sp>
      <p:sp>
        <p:nvSpPr>
          <p:cNvPr id="7" name="İçerik Yer Tutucusu 6">
            <a:extLst>
              <a:ext uri="{FF2B5EF4-FFF2-40B4-BE49-F238E27FC236}">
                <a16:creationId xmlns:a16="http://schemas.microsoft.com/office/drawing/2014/main" id="{A45CC1E0-1259-5D06-11A0-6786AC4432BC}"/>
              </a:ext>
            </a:extLst>
          </p:cNvPr>
          <p:cNvSpPr>
            <a:spLocks noGrp="1"/>
          </p:cNvSpPr>
          <p:nvPr>
            <p:ph sz="half" idx="2"/>
          </p:nvPr>
        </p:nvSpPr>
        <p:spPr>
          <a:xfrm>
            <a:off x="6208712" y="3512745"/>
            <a:ext cx="4825159" cy="2907306"/>
          </a:xfrm>
        </p:spPr>
        <p:txBody>
          <a:bodyPr/>
          <a:lstStyle/>
          <a:p>
            <a:pPr>
              <a:buFont typeface="Wingdings" panose="05000000000000000000" pitchFamily="2" charset="2"/>
              <a:buChar char="Ø"/>
            </a:pPr>
            <a:r>
              <a:rPr lang="tr-TR" sz="1400" b="0" i="0">
                <a:solidFill>
                  <a:srgbClr val="666666"/>
                </a:solidFill>
                <a:effectLst/>
              </a:rPr>
              <a:t>Producer(Publisher) göndereceği mesajı istediği consumer-tüketici- iletilmesini sağlayan ve böylece hedef tüketiciye veriyi işleten bir işleyişe sahip exchange’tir. Bunun için mesaja bir </a:t>
            </a:r>
            <a:r>
              <a:rPr lang="tr-TR" sz="1400" b="0" i="0">
                <a:solidFill>
                  <a:srgbClr val="512A5A"/>
                </a:solidFill>
                <a:effectLst/>
              </a:rPr>
              <a:t>Routing-Key</a:t>
            </a:r>
            <a:r>
              <a:rPr lang="tr-TR" sz="1400" b="0" i="0">
                <a:solidFill>
                  <a:srgbClr val="666666"/>
                </a:solidFill>
                <a:effectLst/>
              </a:rPr>
              <a:t> değeri verilmekte ve bu routing-key değerine sahip tüm kuyruklara mesajın iletilmesi sağlanmaktadır</a:t>
            </a:r>
            <a:r>
              <a:rPr lang="tr-TR" sz="1400" b="0" i="0">
                <a:solidFill>
                  <a:srgbClr val="666666"/>
                </a:solidFill>
                <a:effectLst/>
                <a:latin typeface="Georgia" panose="02040502050405020303" pitchFamily="18" charset="0"/>
              </a:rPr>
              <a:t>.</a:t>
            </a:r>
          </a:p>
          <a:p>
            <a:pPr>
              <a:buFont typeface="Wingdings" panose="05000000000000000000" pitchFamily="2" charset="2"/>
              <a:buChar char="Ø"/>
            </a:pPr>
            <a:r>
              <a:rPr lang="tr-TR" sz="1400">
                <a:solidFill>
                  <a:srgbClr val="666666"/>
                </a:solidFill>
              </a:rPr>
              <a:t>Kısacası mesajı direkt olarak ilgili adrese gönderiyor.</a:t>
            </a:r>
            <a:endParaRPr lang="tr-TR" sz="1400"/>
          </a:p>
          <a:p>
            <a:endParaRPr lang="tr-TR"/>
          </a:p>
        </p:txBody>
      </p:sp>
      <p:pic>
        <p:nvPicPr>
          <p:cNvPr id="4" name="Resim 3">
            <a:extLst>
              <a:ext uri="{FF2B5EF4-FFF2-40B4-BE49-F238E27FC236}">
                <a16:creationId xmlns:a16="http://schemas.microsoft.com/office/drawing/2014/main" id="{BB4DA25A-F845-18E7-7EE8-867B6852A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6" name="Resim 5">
            <a:extLst>
              <a:ext uri="{FF2B5EF4-FFF2-40B4-BE49-F238E27FC236}">
                <a16:creationId xmlns:a16="http://schemas.microsoft.com/office/drawing/2014/main" id="{32252BD9-84AA-B724-4918-9273871A40A8}"/>
              </a:ext>
            </a:extLst>
          </p:cNvPr>
          <p:cNvPicPr>
            <a:picLocks noChangeAspect="1"/>
          </p:cNvPicPr>
          <p:nvPr/>
        </p:nvPicPr>
        <p:blipFill>
          <a:blip r:embed="rId4"/>
          <a:stretch>
            <a:fillRect/>
          </a:stretch>
        </p:blipFill>
        <p:spPr>
          <a:xfrm>
            <a:off x="1154954" y="2578100"/>
            <a:ext cx="4834179" cy="3416301"/>
          </a:xfrm>
          <a:prstGeom prst="rect">
            <a:avLst/>
          </a:prstGeom>
        </p:spPr>
      </p:pic>
    </p:spTree>
    <p:extLst>
      <p:ext uri="{BB962C8B-B14F-4D97-AF65-F5344CB8AC3E}">
        <p14:creationId xmlns:p14="http://schemas.microsoft.com/office/powerpoint/2010/main" val="2224465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chemeClr val="bg1"/>
                </a:solidFill>
                <a:latin typeface="Comic Sans MS" panose="030F0702030302020204" pitchFamily="66" charset="0"/>
              </a:rPr>
              <a:t>Topic Exchange</a:t>
            </a: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normAutofit fontScale="92500" lnSpcReduction="10000"/>
          </a:bodyPr>
          <a:lstStyle/>
          <a:p>
            <a:endParaRPr lang="tr-TR"/>
          </a:p>
          <a:p>
            <a:endParaRPr lang="tr-TR"/>
          </a:p>
        </p:txBody>
      </p:sp>
      <p:sp>
        <p:nvSpPr>
          <p:cNvPr id="5" name="İçerik Yer Tutucusu 4">
            <a:extLst>
              <a:ext uri="{FF2B5EF4-FFF2-40B4-BE49-F238E27FC236}">
                <a16:creationId xmlns:a16="http://schemas.microsoft.com/office/drawing/2014/main" id="{AAEE13F2-A89C-982B-683C-07B35022FAD8}"/>
              </a:ext>
            </a:extLst>
          </p:cNvPr>
          <p:cNvSpPr>
            <a:spLocks noGrp="1"/>
          </p:cNvSpPr>
          <p:nvPr>
            <p:ph sz="half" idx="2"/>
          </p:nvPr>
        </p:nvSpPr>
        <p:spPr>
          <a:xfrm>
            <a:off x="6208712" y="2996697"/>
            <a:ext cx="4825159" cy="3023104"/>
          </a:xfrm>
        </p:spPr>
        <p:txBody>
          <a:bodyPr>
            <a:normAutofit fontScale="92500" lnSpcReduction="10000"/>
          </a:bodyPr>
          <a:lstStyle/>
          <a:p>
            <a:pPr>
              <a:buFont typeface="Wingdings" panose="05000000000000000000" pitchFamily="2" charset="2"/>
              <a:buChar char="Ø"/>
            </a:pPr>
            <a:r>
              <a:rPr lang="tr-TR" sz="1400">
                <a:solidFill>
                  <a:schemeClr val="bg2">
                    <a:lumMod val="25000"/>
                  </a:schemeClr>
                </a:solidFill>
                <a:effectLst/>
              </a:rPr>
              <a:t>Topic Exchange </a:t>
            </a:r>
            <a:r>
              <a:rPr lang="tr-TR" sz="1400">
                <a:solidFill>
                  <a:schemeClr val="bg2">
                    <a:lumMod val="25000"/>
                  </a:schemeClr>
                </a:solidFill>
              </a:rPr>
              <a:t>detaylı routing yapmak istediğimiz zaman kullanabileceğimiz exchange tipidir. Direct Exchange'ten tek farkı routing key tanımlarken </a:t>
            </a:r>
            <a:r>
              <a:rPr lang="tr-TR" sz="1400">
                <a:solidFill>
                  <a:srgbClr val="512A5A"/>
                </a:solidFill>
                <a:effectLst/>
              </a:rPr>
              <a:t>wildcard</a:t>
            </a:r>
            <a:r>
              <a:rPr lang="tr-TR" sz="1400">
                <a:solidFill>
                  <a:schemeClr val="bg2">
                    <a:lumMod val="25000"/>
                  </a:schemeClr>
                </a:solidFill>
              </a:rPr>
              <a:t>'lar ile beraber belirli pattern'ler kullanabiliyor olmasıdır.</a:t>
            </a:r>
          </a:p>
          <a:p>
            <a:pPr>
              <a:buFont typeface="Wingdings" panose="05000000000000000000" pitchFamily="2" charset="2"/>
              <a:buChar char="Ø"/>
            </a:pPr>
            <a:r>
              <a:rPr lang="tr-TR" sz="1400">
                <a:solidFill>
                  <a:srgbClr val="512A5A"/>
                </a:solidFill>
              </a:rPr>
              <a:t>Wildcard:</a:t>
            </a:r>
            <a:r>
              <a:rPr lang="tr-TR" sz="1400"/>
              <a:t> Özel/Yıldızlı karakterler diye bilinir ve yer tutucular(placeholder)</a:t>
            </a:r>
            <a:r>
              <a:rPr lang="tr-TR" sz="1400">
                <a:solidFill>
                  <a:schemeClr val="bg2">
                    <a:lumMod val="25000"/>
                  </a:schemeClr>
                </a:solidFill>
              </a:rPr>
              <a:t>.</a:t>
            </a:r>
          </a:p>
          <a:p>
            <a:pPr>
              <a:buFont typeface="Wingdings" panose="05000000000000000000" pitchFamily="2" charset="2"/>
              <a:buChar char="Ø"/>
            </a:pPr>
            <a:r>
              <a:rPr lang="tr-TR" sz="1400"/>
              <a:t>//var routeKey = "Info.*.Error"; Başı Info sonu Error olanlar. </a:t>
            </a:r>
          </a:p>
          <a:p>
            <a:pPr>
              <a:buFont typeface="Wingdings" panose="05000000000000000000" pitchFamily="2" charset="2"/>
              <a:buChar char="Ø"/>
            </a:pPr>
            <a:r>
              <a:rPr lang="tr-TR" sz="1400"/>
              <a:t>//var routeKey = "#.Info"; Başın ne olduğu önemli değil sonu Info olanlar. </a:t>
            </a:r>
          </a:p>
          <a:p>
            <a:pPr>
              <a:buFont typeface="Wingdings" panose="05000000000000000000" pitchFamily="2" charset="2"/>
              <a:buChar char="Ø"/>
            </a:pPr>
            <a:r>
              <a:rPr lang="tr-TR" sz="1400"/>
              <a:t>//channel.QueueBind(queue: queueName, exchange: "logs-topic", routingKey: routeKey);</a:t>
            </a:r>
            <a:endParaRPr lang="tr-TR" sz="1400">
              <a:solidFill>
                <a:schemeClr val="bg2">
                  <a:lumMod val="25000"/>
                </a:schemeClr>
              </a:solidFill>
            </a:endParaRPr>
          </a:p>
          <a:p>
            <a:endParaRPr lang="tr-TR" sz="1400">
              <a:solidFill>
                <a:schemeClr val="bg2">
                  <a:lumMod val="25000"/>
                </a:schemeClr>
              </a:solidFill>
            </a:endParaRPr>
          </a:p>
          <a:p>
            <a:endParaRPr lang="tr-TR" sz="1400">
              <a:solidFill>
                <a:schemeClr val="bg2">
                  <a:lumMod val="25000"/>
                </a:schemeClr>
              </a:solidFill>
            </a:endParaRPr>
          </a:p>
        </p:txBody>
      </p:sp>
      <p:pic>
        <p:nvPicPr>
          <p:cNvPr id="4" name="Resim 3">
            <a:extLst>
              <a:ext uri="{FF2B5EF4-FFF2-40B4-BE49-F238E27FC236}">
                <a16:creationId xmlns:a16="http://schemas.microsoft.com/office/drawing/2014/main" id="{BB4DA25A-F845-18E7-7EE8-867B6852A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7" name="Resim 6">
            <a:extLst>
              <a:ext uri="{FF2B5EF4-FFF2-40B4-BE49-F238E27FC236}">
                <a16:creationId xmlns:a16="http://schemas.microsoft.com/office/drawing/2014/main" id="{A9975496-5AE3-C33A-669B-B2D98A62EE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3582" y="6139365"/>
            <a:ext cx="2066221" cy="561372"/>
          </a:xfrm>
          <a:prstGeom prst="rect">
            <a:avLst/>
          </a:prstGeom>
        </p:spPr>
      </p:pic>
      <p:pic>
        <p:nvPicPr>
          <p:cNvPr id="10" name="Resim 9">
            <a:extLst>
              <a:ext uri="{FF2B5EF4-FFF2-40B4-BE49-F238E27FC236}">
                <a16:creationId xmlns:a16="http://schemas.microsoft.com/office/drawing/2014/main" id="{94522BEC-8BB9-72CF-B5EA-E929A5FF94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502" y="2472140"/>
            <a:ext cx="4825158" cy="4166885"/>
          </a:xfrm>
          <a:prstGeom prst="rect">
            <a:avLst/>
          </a:prstGeom>
        </p:spPr>
      </p:pic>
    </p:spTree>
    <p:extLst>
      <p:ext uri="{BB962C8B-B14F-4D97-AF65-F5344CB8AC3E}">
        <p14:creationId xmlns:p14="http://schemas.microsoft.com/office/powerpoint/2010/main" val="3570427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a:solidFill>
                  <a:schemeClr val="bg1"/>
                </a:solidFill>
                <a:latin typeface="Comic Sans MS" panose="030F0702030302020204" pitchFamily="66" charset="0"/>
              </a:rPr>
              <a:t>Header Exchange</a:t>
            </a:r>
          </a:p>
        </p:txBody>
      </p:sp>
      <p:sp>
        <p:nvSpPr>
          <p:cNvPr id="3" name="Alt Başlık 2">
            <a:extLst>
              <a:ext uri="{FF2B5EF4-FFF2-40B4-BE49-F238E27FC236}">
                <a16:creationId xmlns:a16="http://schemas.microsoft.com/office/drawing/2014/main" id="{3DA583BF-207B-333F-B381-B6F01DE3F81A}"/>
              </a:ext>
            </a:extLst>
          </p:cNvPr>
          <p:cNvSpPr>
            <a:spLocks noGrp="1"/>
          </p:cNvSpPr>
          <p:nvPr>
            <p:ph sz="half" idx="1"/>
          </p:nvPr>
        </p:nvSpPr>
        <p:spPr/>
        <p:txBody>
          <a:bodyPr/>
          <a:lstStyle/>
          <a:p>
            <a:endParaRPr lang="tr-TR"/>
          </a:p>
          <a:p>
            <a:endParaRPr lang="tr-TR"/>
          </a:p>
        </p:txBody>
      </p:sp>
      <p:sp>
        <p:nvSpPr>
          <p:cNvPr id="5" name="İçerik Yer Tutucusu 4">
            <a:extLst>
              <a:ext uri="{FF2B5EF4-FFF2-40B4-BE49-F238E27FC236}">
                <a16:creationId xmlns:a16="http://schemas.microsoft.com/office/drawing/2014/main" id="{AAEE13F2-A89C-982B-683C-07B35022FAD8}"/>
              </a:ext>
            </a:extLst>
          </p:cNvPr>
          <p:cNvSpPr>
            <a:spLocks noGrp="1"/>
          </p:cNvSpPr>
          <p:nvPr>
            <p:ph sz="half" idx="2"/>
          </p:nvPr>
        </p:nvSpPr>
        <p:spPr>
          <a:xfrm>
            <a:off x="5811864" y="3429000"/>
            <a:ext cx="5222007" cy="2068975"/>
          </a:xfrm>
        </p:spPr>
        <p:txBody>
          <a:bodyPr>
            <a:normAutofit/>
          </a:bodyPr>
          <a:lstStyle/>
          <a:p>
            <a:pPr marL="0" indent="0">
              <a:buNone/>
            </a:pPr>
            <a:endParaRPr lang="tr-TR" sz="1400">
              <a:solidFill>
                <a:schemeClr val="bg2">
                  <a:lumMod val="25000"/>
                </a:schemeClr>
              </a:solidFill>
            </a:endParaRPr>
          </a:p>
          <a:p>
            <a:pPr marL="0" indent="0">
              <a:buNone/>
            </a:pPr>
            <a:r>
              <a:rPr lang="tr-TR" sz="1400" u="sng">
                <a:solidFill>
                  <a:schemeClr val="bg2">
                    <a:lumMod val="50000"/>
                  </a:schemeClr>
                </a:solidFill>
              </a:rPr>
              <a:t>Topic Exchange</a:t>
            </a:r>
            <a:r>
              <a:rPr lang="tr-TR" sz="1400" b="0" i="0">
                <a:solidFill>
                  <a:schemeClr val="bg2">
                    <a:lumMod val="50000"/>
                  </a:schemeClr>
                </a:solidFill>
                <a:effectLst/>
              </a:rPr>
              <a:t>‘in key – value olarak tanımlanan halidir. Yani gönderilen mesajların routing key değerini topic exchange’de olduğu gibi .(nokta) ile değilde, ilgili mesajın header kısmından verilen key – value formatında değer ile oluşturarak, bu keylerle eşleşen kuyruklara ileten bir exchange türüdür</a:t>
            </a:r>
            <a:endParaRPr lang="tr-TR" sz="1400">
              <a:solidFill>
                <a:schemeClr val="bg2">
                  <a:lumMod val="50000"/>
                </a:schemeClr>
              </a:solidFill>
            </a:endParaRPr>
          </a:p>
          <a:p>
            <a:endParaRPr lang="tr-TR" sz="1400">
              <a:solidFill>
                <a:schemeClr val="bg2">
                  <a:lumMod val="25000"/>
                </a:schemeClr>
              </a:solidFill>
            </a:endParaRPr>
          </a:p>
          <a:p>
            <a:endParaRPr lang="tr-TR" sz="1400">
              <a:solidFill>
                <a:schemeClr val="bg2">
                  <a:lumMod val="25000"/>
                </a:schemeClr>
              </a:solidFill>
            </a:endParaRPr>
          </a:p>
        </p:txBody>
      </p:sp>
      <p:pic>
        <p:nvPicPr>
          <p:cNvPr id="4" name="Resim 3">
            <a:extLst>
              <a:ext uri="{FF2B5EF4-FFF2-40B4-BE49-F238E27FC236}">
                <a16:creationId xmlns:a16="http://schemas.microsoft.com/office/drawing/2014/main" id="{BB4DA25A-F845-18E7-7EE8-867B6852A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8" name="Resim 7">
            <a:extLst>
              <a:ext uri="{FF2B5EF4-FFF2-40B4-BE49-F238E27FC236}">
                <a16:creationId xmlns:a16="http://schemas.microsoft.com/office/drawing/2014/main" id="{480A39DF-DFBE-5CA4-E6C3-C7FF2F3619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3827" y="2280338"/>
            <a:ext cx="4953000" cy="4062623"/>
          </a:xfrm>
          <a:prstGeom prst="rect">
            <a:avLst/>
          </a:prstGeom>
        </p:spPr>
      </p:pic>
    </p:spTree>
    <p:extLst>
      <p:ext uri="{BB962C8B-B14F-4D97-AF65-F5344CB8AC3E}">
        <p14:creationId xmlns:p14="http://schemas.microsoft.com/office/powerpoint/2010/main" val="3063772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8AB2F5A-AF32-2EDD-0B60-4D9B3300F602}"/>
              </a:ext>
            </a:extLst>
          </p:cNvPr>
          <p:cNvSpPr>
            <a:spLocks noGrp="1"/>
          </p:cNvSpPr>
          <p:nvPr>
            <p:ph type="title"/>
          </p:nvPr>
        </p:nvSpPr>
        <p:spPr>
          <a:xfrm>
            <a:off x="1154954" y="1583702"/>
            <a:ext cx="8761413" cy="96929"/>
          </a:xfrm>
        </p:spPr>
        <p:txBody>
          <a:bodyPr/>
          <a:lstStyle/>
          <a:p>
            <a:pPr algn="ctr"/>
            <a:r>
              <a:rPr lang="tr-TR" sz="3600">
                <a:solidFill>
                  <a:srgbClr val="FF6600"/>
                </a:solidFill>
                <a:latin typeface="Times New Roman" panose="02020603050405020304" pitchFamily="18" charset="0"/>
                <a:cs typeface="Times New Roman" panose="02020603050405020304" pitchFamily="18" charset="0"/>
              </a:rPr>
              <a:t>              Rabbit</a:t>
            </a:r>
            <a:r>
              <a:rPr lang="tr-TR" sz="3600">
                <a:solidFill>
                  <a:srgbClr val="A6B3AC"/>
                </a:solidFill>
                <a:latin typeface="Times New Roman" panose="02020603050405020304" pitchFamily="18" charset="0"/>
                <a:cs typeface="Times New Roman" panose="02020603050405020304" pitchFamily="18" charset="0"/>
              </a:rPr>
              <a:t>MQ</a:t>
            </a:r>
            <a:r>
              <a:rPr lang="tr-TR" sz="3600">
                <a:solidFill>
                  <a:srgbClr val="512A5A"/>
                </a:solidFill>
                <a:latin typeface="Times New Roman" panose="02020603050405020304" pitchFamily="18" charset="0"/>
                <a:cs typeface="Times New Roman" panose="02020603050405020304" pitchFamily="18" charset="0"/>
              </a:rPr>
              <a:t> </a:t>
            </a:r>
            <a:r>
              <a:rPr lang="tr-TR" sz="1400">
                <a:solidFill>
                  <a:schemeClr val="bg1"/>
                </a:solidFill>
                <a:latin typeface="Times New Roman" panose="02020603050405020304" pitchFamily="18" charset="0"/>
                <a:cs typeface="Times New Roman" panose="02020603050405020304" pitchFamily="18" charset="0"/>
              </a:rPr>
              <a:t>vs</a:t>
            </a:r>
            <a:r>
              <a:rPr lang="tr-TR" sz="3600">
                <a:solidFill>
                  <a:srgbClr val="512A5A"/>
                </a:solidFill>
                <a:latin typeface="Times New Roman" panose="02020603050405020304" pitchFamily="18" charset="0"/>
                <a:cs typeface="Times New Roman" panose="02020603050405020304" pitchFamily="18" charset="0"/>
              </a:rPr>
              <a:t> </a:t>
            </a:r>
            <a:r>
              <a:rPr lang="tr-TR" sz="3600">
                <a:solidFill>
                  <a:schemeClr val="tx1"/>
                </a:solidFill>
                <a:latin typeface="Times New Roman" panose="02020603050405020304" pitchFamily="18" charset="0"/>
                <a:cs typeface="Times New Roman" panose="02020603050405020304" pitchFamily="18" charset="0"/>
              </a:rPr>
              <a:t>Apache </a:t>
            </a:r>
            <a:r>
              <a:rPr lang="tr-TR" sz="3600" b="1">
                <a:solidFill>
                  <a:schemeClr val="tx1"/>
                </a:solidFill>
                <a:latin typeface="Times New Roman" panose="02020603050405020304" pitchFamily="18" charset="0"/>
                <a:cs typeface="Times New Roman" panose="02020603050405020304" pitchFamily="18" charset="0"/>
              </a:rPr>
              <a:t>Kafka </a:t>
            </a:r>
            <a:br>
              <a:rPr lang="tr-TR" sz="3600">
                <a:solidFill>
                  <a:srgbClr val="512A5A"/>
                </a:solidFill>
                <a:latin typeface="Times New Roman" panose="02020603050405020304" pitchFamily="18" charset="0"/>
                <a:cs typeface="Times New Roman" panose="02020603050405020304" pitchFamily="18" charset="0"/>
              </a:rPr>
            </a:br>
            <a:endParaRPr lang="tr-TR"/>
          </a:p>
        </p:txBody>
      </p:sp>
      <p:sp>
        <p:nvSpPr>
          <p:cNvPr id="21" name="Metin Yer Tutucusu 20">
            <a:extLst>
              <a:ext uri="{FF2B5EF4-FFF2-40B4-BE49-F238E27FC236}">
                <a16:creationId xmlns:a16="http://schemas.microsoft.com/office/drawing/2014/main" id="{BFF85E94-3E82-345C-40FA-1C66A09C0D81}"/>
              </a:ext>
            </a:extLst>
          </p:cNvPr>
          <p:cNvSpPr>
            <a:spLocks noGrp="1"/>
          </p:cNvSpPr>
          <p:nvPr>
            <p:ph type="body" idx="1"/>
          </p:nvPr>
        </p:nvSpPr>
        <p:spPr/>
        <p:txBody>
          <a:bodyPr/>
          <a:lstStyle/>
          <a:p>
            <a:pPr algn="ctr"/>
            <a:r>
              <a:rPr lang="tr-TR" sz="2400">
                <a:solidFill>
                  <a:srgbClr val="FF6600"/>
                </a:solidFill>
                <a:latin typeface="Times New Roman" panose="02020603050405020304" pitchFamily="18" charset="0"/>
                <a:cs typeface="Times New Roman" panose="02020603050405020304" pitchFamily="18" charset="0"/>
              </a:rPr>
              <a:t>Rabbit</a:t>
            </a:r>
            <a:r>
              <a:rPr lang="tr-TR" sz="2400">
                <a:solidFill>
                  <a:srgbClr val="A6B3AC"/>
                </a:solidFill>
                <a:latin typeface="Times New Roman" panose="02020603050405020304" pitchFamily="18" charset="0"/>
                <a:cs typeface="Times New Roman" panose="02020603050405020304" pitchFamily="18" charset="0"/>
              </a:rPr>
              <a:t>MQ</a:t>
            </a:r>
            <a:endParaRPr lang="tr-TR"/>
          </a:p>
        </p:txBody>
      </p:sp>
      <p:sp>
        <p:nvSpPr>
          <p:cNvPr id="23" name="Metin Yer Tutucusu 22">
            <a:extLst>
              <a:ext uri="{FF2B5EF4-FFF2-40B4-BE49-F238E27FC236}">
                <a16:creationId xmlns:a16="http://schemas.microsoft.com/office/drawing/2014/main" id="{FEFA7234-FD93-4BBF-E211-443A5B13DC10}"/>
              </a:ext>
            </a:extLst>
          </p:cNvPr>
          <p:cNvSpPr>
            <a:spLocks noGrp="1"/>
          </p:cNvSpPr>
          <p:nvPr>
            <p:ph type="body" sz="quarter" idx="3"/>
          </p:nvPr>
        </p:nvSpPr>
        <p:spPr/>
        <p:txBody>
          <a:bodyPr/>
          <a:lstStyle/>
          <a:p>
            <a:pPr algn="ctr"/>
            <a:r>
              <a:rPr lang="tr-TR" sz="2400">
                <a:solidFill>
                  <a:schemeClr val="tx1"/>
                </a:solidFill>
                <a:latin typeface="Times New Roman" panose="02020603050405020304" pitchFamily="18" charset="0"/>
                <a:cs typeface="Times New Roman" panose="02020603050405020304" pitchFamily="18" charset="0"/>
              </a:rPr>
              <a:t>Apache </a:t>
            </a:r>
            <a:r>
              <a:rPr lang="tr-TR" sz="2400" b="1">
                <a:solidFill>
                  <a:schemeClr val="tx1"/>
                </a:solidFill>
                <a:latin typeface="Times New Roman" panose="02020603050405020304" pitchFamily="18" charset="0"/>
                <a:cs typeface="Times New Roman" panose="02020603050405020304" pitchFamily="18" charset="0"/>
              </a:rPr>
              <a:t>Kafka</a:t>
            </a:r>
            <a:endParaRPr lang="tr-TR"/>
          </a:p>
        </p:txBody>
      </p:sp>
      <p:pic>
        <p:nvPicPr>
          <p:cNvPr id="28" name="İçerik Yer Tutucusu 27">
            <a:extLst>
              <a:ext uri="{FF2B5EF4-FFF2-40B4-BE49-F238E27FC236}">
                <a16:creationId xmlns:a16="http://schemas.microsoft.com/office/drawing/2014/main" id="{7219B27E-B76D-C1DC-F968-18D1FB204BF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08713" y="3308542"/>
            <a:ext cx="4824412" cy="2582479"/>
          </a:xfrm>
        </p:spPr>
      </p:pic>
      <p:pic>
        <p:nvPicPr>
          <p:cNvPr id="38" name="İçerik Yer Tutucusu 37">
            <a:extLst>
              <a:ext uri="{FF2B5EF4-FFF2-40B4-BE49-F238E27FC236}">
                <a16:creationId xmlns:a16="http://schemas.microsoft.com/office/drawing/2014/main" id="{C7DBA998-59D5-75BD-419B-C236439CB692}"/>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596326" y="3179763"/>
            <a:ext cx="3967566" cy="2840037"/>
          </a:xfrm>
        </p:spPr>
      </p:pic>
    </p:spTree>
    <p:extLst>
      <p:ext uri="{BB962C8B-B14F-4D97-AF65-F5344CB8AC3E}">
        <p14:creationId xmlns:p14="http://schemas.microsoft.com/office/powerpoint/2010/main" val="2207211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etin Yer Tutucusu 11">
            <a:extLst>
              <a:ext uri="{FF2B5EF4-FFF2-40B4-BE49-F238E27FC236}">
                <a16:creationId xmlns:a16="http://schemas.microsoft.com/office/drawing/2014/main" id="{6C4378AD-255C-6F12-2E1E-35F3A72B6C3D}"/>
              </a:ext>
            </a:extLst>
          </p:cNvPr>
          <p:cNvSpPr>
            <a:spLocks noGrp="1"/>
          </p:cNvSpPr>
          <p:nvPr>
            <p:ph type="body" idx="1"/>
          </p:nvPr>
        </p:nvSpPr>
        <p:spPr/>
        <p:txBody>
          <a:bodyPr/>
          <a:lstStyle/>
          <a:p>
            <a:endParaRPr lang="tr-TR"/>
          </a:p>
        </p:txBody>
      </p:sp>
      <p:sp>
        <p:nvSpPr>
          <p:cNvPr id="15" name="Metin Yer Tutucusu 14">
            <a:extLst>
              <a:ext uri="{FF2B5EF4-FFF2-40B4-BE49-F238E27FC236}">
                <a16:creationId xmlns:a16="http://schemas.microsoft.com/office/drawing/2014/main" id="{D38FB9C0-0AA8-240C-79BB-C03E4DA5756C}"/>
              </a:ext>
            </a:extLst>
          </p:cNvPr>
          <p:cNvSpPr>
            <a:spLocks noGrp="1"/>
          </p:cNvSpPr>
          <p:nvPr>
            <p:ph type="body" sz="half" idx="15"/>
          </p:nvPr>
        </p:nvSpPr>
        <p:spPr/>
        <p:txBody>
          <a:bodyPr/>
          <a:lstStyle/>
          <a:p>
            <a:endParaRPr lang="tr-TR"/>
          </a:p>
        </p:txBody>
      </p:sp>
      <p:sp>
        <p:nvSpPr>
          <p:cNvPr id="13" name="Metin Yer Tutucusu 12">
            <a:extLst>
              <a:ext uri="{FF2B5EF4-FFF2-40B4-BE49-F238E27FC236}">
                <a16:creationId xmlns:a16="http://schemas.microsoft.com/office/drawing/2014/main" id="{78DC1EA4-A685-23ED-B753-8CF29EEBB357}"/>
              </a:ext>
            </a:extLst>
          </p:cNvPr>
          <p:cNvSpPr>
            <a:spLocks noGrp="1"/>
          </p:cNvSpPr>
          <p:nvPr>
            <p:ph type="body" sz="quarter" idx="3"/>
          </p:nvPr>
        </p:nvSpPr>
        <p:spPr/>
        <p:txBody>
          <a:bodyPr/>
          <a:lstStyle/>
          <a:p>
            <a:endParaRPr lang="tr-TR"/>
          </a:p>
        </p:txBody>
      </p:sp>
      <p:sp>
        <p:nvSpPr>
          <p:cNvPr id="16" name="Metin Yer Tutucusu 15">
            <a:extLst>
              <a:ext uri="{FF2B5EF4-FFF2-40B4-BE49-F238E27FC236}">
                <a16:creationId xmlns:a16="http://schemas.microsoft.com/office/drawing/2014/main" id="{F6A9223E-4049-FA94-D5A0-7046E81205EE}"/>
              </a:ext>
            </a:extLst>
          </p:cNvPr>
          <p:cNvSpPr>
            <a:spLocks noGrp="1"/>
          </p:cNvSpPr>
          <p:nvPr>
            <p:ph type="body" sz="half" idx="16"/>
          </p:nvPr>
        </p:nvSpPr>
        <p:spPr/>
        <p:txBody>
          <a:bodyPr/>
          <a:lstStyle/>
          <a:p>
            <a:endParaRPr lang="tr-TR"/>
          </a:p>
        </p:txBody>
      </p:sp>
      <p:sp>
        <p:nvSpPr>
          <p:cNvPr id="14" name="Metin Yer Tutucusu 13">
            <a:extLst>
              <a:ext uri="{FF2B5EF4-FFF2-40B4-BE49-F238E27FC236}">
                <a16:creationId xmlns:a16="http://schemas.microsoft.com/office/drawing/2014/main" id="{3E7913A2-013A-3D3C-DECF-47782B19362B}"/>
              </a:ext>
            </a:extLst>
          </p:cNvPr>
          <p:cNvSpPr>
            <a:spLocks noGrp="1"/>
          </p:cNvSpPr>
          <p:nvPr>
            <p:ph type="body" sz="quarter" idx="13"/>
          </p:nvPr>
        </p:nvSpPr>
        <p:spPr/>
        <p:txBody>
          <a:bodyPr/>
          <a:lstStyle/>
          <a:p>
            <a:endParaRPr lang="tr-TR"/>
          </a:p>
        </p:txBody>
      </p:sp>
      <p:sp>
        <p:nvSpPr>
          <p:cNvPr id="17" name="Metin Yer Tutucusu 16">
            <a:extLst>
              <a:ext uri="{FF2B5EF4-FFF2-40B4-BE49-F238E27FC236}">
                <a16:creationId xmlns:a16="http://schemas.microsoft.com/office/drawing/2014/main" id="{99E29E3C-A973-D11F-ACF0-3D8EF8E13A17}"/>
              </a:ext>
            </a:extLst>
          </p:cNvPr>
          <p:cNvSpPr>
            <a:spLocks noGrp="1"/>
          </p:cNvSpPr>
          <p:nvPr>
            <p:ph type="body" sz="half" idx="17"/>
          </p:nvPr>
        </p:nvSpPr>
        <p:spPr/>
        <p:txBody>
          <a:bodyPr/>
          <a:lstStyle/>
          <a:p>
            <a:endParaRPr lang="tr-TR"/>
          </a:p>
        </p:txBody>
      </p:sp>
      <p:pic>
        <p:nvPicPr>
          <p:cNvPr id="19" name="Resim 18">
            <a:hlinkClick r:id="rId2"/>
            <a:extLst>
              <a:ext uri="{FF2B5EF4-FFF2-40B4-BE49-F238E27FC236}">
                <a16:creationId xmlns:a16="http://schemas.microsoft.com/office/drawing/2014/main" id="{0A40BA77-3060-4C39-74FB-6D929FD05C63}"/>
              </a:ext>
            </a:extLst>
          </p:cNvPr>
          <p:cNvPicPr>
            <a:picLocks noChangeAspect="1"/>
          </p:cNvPicPr>
          <p:nvPr/>
        </p:nvPicPr>
        <p:blipFill>
          <a:blip r:embed="rId3"/>
          <a:stretch>
            <a:fillRect/>
          </a:stretch>
        </p:blipFill>
        <p:spPr>
          <a:xfrm>
            <a:off x="407406" y="2256894"/>
            <a:ext cx="4105315" cy="4469830"/>
          </a:xfrm>
          <a:prstGeom prst="rect">
            <a:avLst/>
          </a:prstGeom>
        </p:spPr>
      </p:pic>
      <p:pic>
        <p:nvPicPr>
          <p:cNvPr id="21" name="Resim 20">
            <a:hlinkClick r:id="rId4"/>
            <a:extLst>
              <a:ext uri="{FF2B5EF4-FFF2-40B4-BE49-F238E27FC236}">
                <a16:creationId xmlns:a16="http://schemas.microsoft.com/office/drawing/2014/main" id="{30EDF81D-B347-C6CC-E4EC-98916ACF7E52}"/>
              </a:ext>
            </a:extLst>
          </p:cNvPr>
          <p:cNvPicPr>
            <a:picLocks noChangeAspect="1"/>
          </p:cNvPicPr>
          <p:nvPr/>
        </p:nvPicPr>
        <p:blipFill>
          <a:blip r:embed="rId5"/>
          <a:stretch>
            <a:fillRect/>
          </a:stretch>
        </p:blipFill>
        <p:spPr>
          <a:xfrm>
            <a:off x="4507591" y="2256894"/>
            <a:ext cx="3147009" cy="4469830"/>
          </a:xfrm>
          <a:prstGeom prst="rect">
            <a:avLst/>
          </a:prstGeom>
        </p:spPr>
      </p:pic>
      <p:pic>
        <p:nvPicPr>
          <p:cNvPr id="23" name="Resim 22">
            <a:hlinkClick r:id="rId6"/>
            <a:extLst>
              <a:ext uri="{FF2B5EF4-FFF2-40B4-BE49-F238E27FC236}">
                <a16:creationId xmlns:a16="http://schemas.microsoft.com/office/drawing/2014/main" id="{F8DCF0D2-32ED-5390-2555-ED1D130711F8}"/>
              </a:ext>
            </a:extLst>
          </p:cNvPr>
          <p:cNvPicPr>
            <a:picLocks noChangeAspect="1"/>
          </p:cNvPicPr>
          <p:nvPr/>
        </p:nvPicPr>
        <p:blipFill rotWithShape="1">
          <a:blip r:embed="rId7"/>
          <a:srcRect t="7261"/>
          <a:stretch/>
        </p:blipFill>
        <p:spPr>
          <a:xfrm>
            <a:off x="7679281" y="2444435"/>
            <a:ext cx="3501749" cy="4282289"/>
          </a:xfrm>
          <a:prstGeom prst="rect">
            <a:avLst/>
          </a:prstGeom>
        </p:spPr>
      </p:pic>
    </p:spTree>
    <p:extLst>
      <p:ext uri="{BB962C8B-B14F-4D97-AF65-F5344CB8AC3E}">
        <p14:creationId xmlns:p14="http://schemas.microsoft.com/office/powerpoint/2010/main" val="1132953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p:txBody>
          <a:bodyPr>
            <a:normAutofit/>
          </a:bodyPr>
          <a:lstStyle/>
          <a:p>
            <a:pPr algn="ctr"/>
            <a:r>
              <a:rPr lang="tr-TR" sz="3600">
                <a:solidFill>
                  <a:srgbClr val="FF6600"/>
                </a:solidFill>
                <a:latin typeface="Comic Sans MS" panose="030F0702030302020204" pitchFamily="66" charset="0"/>
              </a:rPr>
              <a:t>Rabbit</a:t>
            </a:r>
            <a:r>
              <a:rPr lang="tr-TR" sz="3600">
                <a:solidFill>
                  <a:srgbClr val="A6B3AC"/>
                </a:solidFill>
                <a:latin typeface="Comic Sans MS" panose="030F0702030302020204" pitchFamily="66" charset="0"/>
              </a:rPr>
              <a:t>MQ </a:t>
            </a:r>
            <a:r>
              <a:rPr lang="tr-TR" sz="3600">
                <a:solidFill>
                  <a:schemeClr val="bg1"/>
                </a:solidFill>
                <a:latin typeface="Comic Sans MS" panose="030F0702030302020204" pitchFamily="66" charset="0"/>
              </a:rPr>
              <a:t>Dockerize-CloudAMQP</a:t>
            </a:r>
            <a:endParaRPr lang="tr-TR">
              <a:solidFill>
                <a:srgbClr val="FF0000"/>
              </a:solidFill>
            </a:endParaRPr>
          </a:p>
        </p:txBody>
      </p:sp>
      <p:pic>
        <p:nvPicPr>
          <p:cNvPr id="21" name="İçerik Yer Tutucusu 20">
            <a:hlinkClick r:id="rId3" action="ppaction://hlinkfile"/>
            <a:extLst>
              <a:ext uri="{FF2B5EF4-FFF2-40B4-BE49-F238E27FC236}">
                <a16:creationId xmlns:a16="http://schemas.microsoft.com/office/drawing/2014/main" id="{21C6B6AA-DE27-4FBA-6502-4F07EA3B579D}"/>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94572" y="2624947"/>
            <a:ext cx="4129968" cy="3203280"/>
          </a:xfrm>
          <a:prstGeom prst="rect">
            <a:avLst/>
          </a:prstGeom>
          <a:ln>
            <a:noFill/>
          </a:ln>
          <a:effectLst>
            <a:softEdge rad="112500"/>
          </a:effectLst>
        </p:spPr>
      </p:pic>
      <p:pic>
        <p:nvPicPr>
          <p:cNvPr id="4" name="Resim 3">
            <a:extLst>
              <a:ext uri="{FF2B5EF4-FFF2-40B4-BE49-F238E27FC236}">
                <a16:creationId xmlns:a16="http://schemas.microsoft.com/office/drawing/2014/main" id="{518C4332-8A76-6A99-A994-66449BD6A8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pic>
        <p:nvPicPr>
          <p:cNvPr id="23" name="Resim 22">
            <a:hlinkClick r:id="rId6"/>
            <a:extLst>
              <a:ext uri="{FF2B5EF4-FFF2-40B4-BE49-F238E27FC236}">
                <a16:creationId xmlns:a16="http://schemas.microsoft.com/office/drawing/2014/main" id="{9D139199-A6E7-F2E9-43A9-BEB3EAEE53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73078" y="2697933"/>
            <a:ext cx="4324350" cy="28699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88858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C1544D-AD0D-901D-0905-6B5F40368A38}"/>
              </a:ext>
            </a:extLst>
          </p:cNvPr>
          <p:cNvSpPr>
            <a:spLocks noGrp="1"/>
          </p:cNvSpPr>
          <p:nvPr>
            <p:ph type="title"/>
          </p:nvPr>
        </p:nvSpPr>
        <p:spPr>
          <a:xfrm>
            <a:off x="4653480" y="869132"/>
            <a:ext cx="2679827" cy="821555"/>
          </a:xfrm>
        </p:spPr>
        <p:txBody>
          <a:bodyPr>
            <a:normAutofit/>
          </a:bodyPr>
          <a:lstStyle/>
          <a:p>
            <a:r>
              <a:rPr lang="tr-TR">
                <a:solidFill>
                  <a:schemeClr val="bg1"/>
                </a:solidFill>
              </a:rPr>
              <a:t>Kaynak</a:t>
            </a:r>
            <a:r>
              <a:rPr lang="tr-TR">
                <a:solidFill>
                  <a:srgbClr val="FF0000"/>
                </a:solidFill>
              </a:rPr>
              <a:t> </a:t>
            </a:r>
          </a:p>
        </p:txBody>
      </p:sp>
      <p:sp>
        <p:nvSpPr>
          <p:cNvPr id="3" name="Alt Başlık 2">
            <a:extLst>
              <a:ext uri="{FF2B5EF4-FFF2-40B4-BE49-F238E27FC236}">
                <a16:creationId xmlns:a16="http://schemas.microsoft.com/office/drawing/2014/main" id="{3DA583BF-207B-333F-B381-B6F01DE3F81A}"/>
              </a:ext>
            </a:extLst>
          </p:cNvPr>
          <p:cNvSpPr>
            <a:spLocks noGrp="1"/>
          </p:cNvSpPr>
          <p:nvPr>
            <p:ph idx="1"/>
          </p:nvPr>
        </p:nvSpPr>
        <p:spPr>
          <a:xfrm>
            <a:off x="838200" y="2598345"/>
            <a:ext cx="10714022" cy="3644019"/>
          </a:xfrm>
        </p:spPr>
        <p:txBody>
          <a:bodyPr>
            <a:normAutofit fontScale="62500" lnSpcReduction="20000"/>
          </a:bodyPr>
          <a:lstStyle/>
          <a:p>
            <a:endParaRPr lang="tr-TR">
              <a:hlinkClick r:id="rId3"/>
            </a:endParaRPr>
          </a:p>
          <a:p>
            <a:endParaRPr lang="tr-TR">
              <a:hlinkClick r:id="rId4"/>
            </a:endParaRPr>
          </a:p>
          <a:p>
            <a:endParaRPr lang="tr-TR">
              <a:hlinkClick r:id="rId4"/>
            </a:endParaRPr>
          </a:p>
          <a:p>
            <a:r>
              <a:rPr lang="tr-TR">
                <a:hlinkClick r:id="rId4"/>
              </a:rPr>
              <a:t>https://rabbitmq.com/</a:t>
            </a:r>
            <a:endParaRPr lang="tr-TR">
              <a:hlinkClick r:id="rId3"/>
            </a:endParaRPr>
          </a:p>
          <a:p>
            <a:r>
              <a:rPr lang="tr-TR">
                <a:hlinkClick r:id="rId3"/>
              </a:rPr>
              <a:t>https://yazilim.notion.site/RabbitMQ-9b60e97fc4a14593a2a102dd3f6bc744</a:t>
            </a:r>
            <a:endParaRPr lang="tr-TR"/>
          </a:p>
          <a:p>
            <a:r>
              <a:rPr lang="tr-TR">
                <a:hlinkClick r:id="rId5"/>
              </a:rPr>
              <a:t>https://bilisim.io/2017/12/13/reactive-programming-2-reactive-manifesto/</a:t>
            </a:r>
            <a:endParaRPr lang="tr-TR"/>
          </a:p>
          <a:p>
            <a:r>
              <a:rPr lang="tr-TR">
                <a:hlinkClick r:id="rId6"/>
              </a:rPr>
              <a:t>https://www.cloudamqp.com/blog/part4-rabbitmq-for-beginners-exchanges-routing-keys-bindings.html</a:t>
            </a:r>
            <a:endParaRPr lang="tr-TR"/>
          </a:p>
          <a:p>
            <a:r>
              <a:rPr lang="tr-TR">
                <a:hlinkClick r:id="rId7"/>
              </a:rPr>
              <a:t>https://www.gencayyildiz.com/blog</a:t>
            </a:r>
            <a:endParaRPr lang="tr-TR"/>
          </a:p>
          <a:p>
            <a:r>
              <a:rPr lang="tr-TR">
                <a:hlinkClick r:id="rId8"/>
              </a:rPr>
              <a:t>https://burakneis.com/rabbitmq-nedir/</a:t>
            </a:r>
            <a:endParaRPr lang="tr-TR"/>
          </a:p>
          <a:p>
            <a:r>
              <a:rPr lang="tr-TR">
                <a:hlinkClick r:id="rId9"/>
              </a:rPr>
              <a:t>https://www.cloudamqp.com/blog/when-to-use-rabbitmq-or-apache-kafka.html</a:t>
            </a:r>
            <a:endParaRPr lang="tr-TR"/>
          </a:p>
          <a:p>
            <a:r>
              <a:rPr lang="tr-TR">
                <a:hlinkClick r:id="rId10"/>
              </a:rPr>
              <a:t>https://www.youtube.com/watch?v=o8eU5WiO8fw</a:t>
            </a:r>
            <a:endParaRPr lang="tr-TR"/>
          </a:p>
          <a:p>
            <a:r>
              <a:rPr lang="tr-TR">
                <a:hlinkClick r:id="rId11"/>
              </a:rPr>
              <a:t>https://www.youtube.com/watch?v=bBZMR-WArNg&amp;t=849s</a:t>
            </a:r>
            <a:endParaRPr lang="tr-TR"/>
          </a:p>
          <a:p>
            <a:r>
              <a:rPr lang="tr-TR">
                <a:hlinkClick r:id="rId12"/>
              </a:rPr>
              <a:t>https://www.youtube.com/watch?v=QGHP8Bi5Q5E&amp;t=691s</a:t>
            </a:r>
            <a:endParaRPr lang="tr-TR"/>
          </a:p>
          <a:p>
            <a:endParaRPr lang="tr-TR"/>
          </a:p>
        </p:txBody>
      </p:sp>
      <p:pic>
        <p:nvPicPr>
          <p:cNvPr id="4" name="Resim 3">
            <a:extLst>
              <a:ext uri="{FF2B5EF4-FFF2-40B4-BE49-F238E27FC236}">
                <a16:creationId xmlns:a16="http://schemas.microsoft.com/office/drawing/2014/main" id="{607F73E7-CF20-ADEA-B79F-BACBBC80B2E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25778" y="6420051"/>
            <a:ext cx="2066222" cy="437949"/>
          </a:xfrm>
          <a:prstGeom prst="rect">
            <a:avLst/>
          </a:prstGeom>
          <a:ln>
            <a:noFill/>
          </a:ln>
          <a:effectLst>
            <a:softEdge rad="112500"/>
          </a:effectLst>
        </p:spPr>
      </p:pic>
    </p:spTree>
    <p:extLst>
      <p:ext uri="{BB962C8B-B14F-4D97-AF65-F5344CB8AC3E}">
        <p14:creationId xmlns:p14="http://schemas.microsoft.com/office/powerpoint/2010/main" val="40172288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Toplantı Odası">
  <a:themeElements>
    <a:clrScheme name="İyon Toplantı Odası">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yon Toplantı Odası">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Toplantı Odası">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TM02900722[[fn=İyon Toplantı Odası]]</Template>
  <TotalTime>2117</TotalTime>
  <Words>1093</Words>
  <Application>Microsoft Office PowerPoint</Application>
  <PresentationFormat>Geniş ekran</PresentationFormat>
  <Paragraphs>116</Paragraphs>
  <Slides>16</Slides>
  <Notes>15</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16</vt:i4>
      </vt:variant>
    </vt:vector>
  </HeadingPairs>
  <TitlesOfParts>
    <vt:vector size="25" baseType="lpstr">
      <vt:lpstr>Arial</vt:lpstr>
      <vt:lpstr>Calibri</vt:lpstr>
      <vt:lpstr>Century Gothic</vt:lpstr>
      <vt:lpstr>Comic Sans MS</vt:lpstr>
      <vt:lpstr>Georgia</vt:lpstr>
      <vt:lpstr>Times New Roman</vt:lpstr>
      <vt:lpstr>Wingdings</vt:lpstr>
      <vt:lpstr>Wingdings 3</vt:lpstr>
      <vt:lpstr>İyon Toplantı Odası</vt:lpstr>
      <vt:lpstr>Enterprise Application DevelopmentMTH-501 Mustafa Yasin Emir </vt:lpstr>
      <vt:lpstr>Message Systems Message Queue</vt:lpstr>
      <vt:lpstr>Message Broker Nedir ?</vt:lpstr>
      <vt:lpstr>RabbitMQ Nedir ?</vt:lpstr>
      <vt:lpstr>RabbitMQ</vt:lpstr>
      <vt:lpstr>RabbitMQ</vt:lpstr>
      <vt:lpstr>RabbitMQ</vt:lpstr>
      <vt:lpstr>Exchange-Binding-Routing Key</vt:lpstr>
      <vt:lpstr>Fanout Exchange</vt:lpstr>
      <vt:lpstr>Direct Exchange</vt:lpstr>
      <vt:lpstr>Topic Exchange</vt:lpstr>
      <vt:lpstr>Header Exchange</vt:lpstr>
      <vt:lpstr>              RabbitMQ vs Apache Kafka  </vt:lpstr>
      <vt:lpstr>PowerPoint Sunusu</vt:lpstr>
      <vt:lpstr>RabbitMQ Dockerize-CloudAMQP</vt:lpstr>
      <vt:lpstr>Kaynak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Application DevelopmentMTH-501</dc:title>
  <dc:creator>Mustafa Yasin Emir</dc:creator>
  <cp:lastModifiedBy>Mustafa Yasin Emir</cp:lastModifiedBy>
  <cp:revision>31</cp:revision>
  <dcterms:created xsi:type="dcterms:W3CDTF">2023-12-05T11:37:53Z</dcterms:created>
  <dcterms:modified xsi:type="dcterms:W3CDTF">2023-12-08T15:24:37Z</dcterms:modified>
</cp:coreProperties>
</file>